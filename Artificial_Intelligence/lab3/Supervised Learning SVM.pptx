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65" r:id="rId5"/>
    <p:sldId id="271" r:id="rId6"/>
    <p:sldId id="299" r:id="rId7"/>
    <p:sldId id="317" r:id="rId8"/>
    <p:sldId id="320" r:id="rId9"/>
    <p:sldId id="321" r:id="rId10"/>
    <p:sldId id="322" r:id="rId11"/>
    <p:sldId id="324" r:id="rId12"/>
    <p:sldId id="323" r:id="rId13"/>
    <p:sldId id="331" r:id="rId14"/>
    <p:sldId id="333" r:id="rId15"/>
    <p:sldId id="334" r:id="rId16"/>
    <p:sldId id="335" r:id="rId17"/>
    <p:sldId id="336" r:id="rId18"/>
    <p:sldId id="337" r:id="rId19"/>
    <p:sldId id="339" r:id="rId20"/>
    <p:sldId id="338" r:id="rId21"/>
    <p:sldId id="26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F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B06920-FC3B-4ED1-9F7B-5428870EB46E}" v="182" dt="2024-12-29T08:41:34.256"/>
  </p1510:revLst>
</p1510:revInfo>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73039" autoAdjust="0"/>
  </p:normalViewPr>
  <p:slideViewPr>
    <p:cSldViewPr snapToGrid="0">
      <p:cViewPr varScale="1">
        <p:scale>
          <a:sx n="62" d="100"/>
          <a:sy n="62" d="100"/>
        </p:scale>
        <p:origin x="1238"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z-Latn-A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ADE9A1-7E3A-497B-9C16-8343D335D571}" type="datetimeFigureOut">
              <a:rPr lang="az-Latn-AZ" smtClean="0"/>
              <a:t>10.10.2026</a:t>
            </a:fld>
            <a:endParaRPr lang="az-Latn-A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z-Latn-A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z-Latn-A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z-Latn-A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71190C-00E5-4182-B519-6CE8EF0DED16}" type="slidenum">
              <a:rPr lang="az-Latn-AZ" smtClean="0"/>
              <a:t>‹#›</a:t>
            </a:fld>
            <a:endParaRPr lang="az-Latn-AZ"/>
          </a:p>
        </p:txBody>
      </p:sp>
    </p:spTree>
    <p:extLst>
      <p:ext uri="{BB962C8B-B14F-4D97-AF65-F5344CB8AC3E}">
        <p14:creationId xmlns:p14="http://schemas.microsoft.com/office/powerpoint/2010/main" val="657529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ibm.com/topics/linear-discriminant-analysi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DBSCAN (Density-Based Spatial Clustering of Applications with Noise)</a:t>
            </a:r>
          </a:p>
          <a:p>
            <a:r>
              <a:rPr lang="en-US" dirty="0"/>
              <a:t>PCA Principial Component Analysis</a:t>
            </a:r>
          </a:p>
          <a:p>
            <a:r>
              <a:rPr lang="en-US" b="0" i="0" u="none" strike="noStrike" dirty="0">
                <a:solidFill>
                  <a:srgbClr val="0062FE"/>
                </a:solidFill>
                <a:effectLst/>
                <a:latin typeface="IBM Plex Sans" panose="020B0503050203000203" pitchFamily="34" charset="0"/>
                <a:hlinkClick r:id="rId3"/>
              </a:rPr>
              <a:t>Linear discriminant analysis</a:t>
            </a:r>
            <a:r>
              <a:rPr lang="en-US" b="0" i="0" dirty="0">
                <a:solidFill>
                  <a:srgbClr val="161616"/>
                </a:solidFill>
                <a:effectLst/>
                <a:latin typeface="IBM Plex Sans" panose="020B0503050203000203" pitchFamily="34" charset="0"/>
              </a:rPr>
              <a:t> (LDA) is similar to PCA in that it projects data onto a new, lower dimensional space, the dimensions for which are derived from the initial model.</a:t>
            </a:r>
            <a:endParaRPr lang="en-US" dirty="0"/>
          </a:p>
        </p:txBody>
      </p:sp>
      <p:sp>
        <p:nvSpPr>
          <p:cNvPr id="4" name="Slide Number Placeholder 3"/>
          <p:cNvSpPr>
            <a:spLocks noGrp="1"/>
          </p:cNvSpPr>
          <p:nvPr>
            <p:ph type="sldNum" sz="quarter" idx="5"/>
          </p:nvPr>
        </p:nvSpPr>
        <p:spPr/>
        <p:txBody>
          <a:bodyPr/>
          <a:lstStyle/>
          <a:p>
            <a:fld id="{0262B0A6-A687-4B66-BE4E-8C9DFC8A710B}" type="slidenum">
              <a:rPr lang="en-US" smtClean="0"/>
              <a:t>2</a:t>
            </a:fld>
            <a:endParaRPr lang="en-US"/>
          </a:p>
        </p:txBody>
      </p:sp>
    </p:spTree>
    <p:extLst>
      <p:ext uri="{BB962C8B-B14F-4D97-AF65-F5344CB8AC3E}">
        <p14:creationId xmlns:p14="http://schemas.microsoft.com/office/powerpoint/2010/main" val="738375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dirty="0">
                <a:effectLst/>
              </a:rPr>
              <a:t>1. </a:t>
            </a:r>
            <a:r>
              <a:rPr lang="az-Latn-AZ" b="1" dirty="0">
                <a:effectLst/>
              </a:rPr>
              <a:t>Əgər problemin yalnız iki nəticəsi varsa, İkili Təsnifatdan (Binary Classification) istifadə edin.</a:t>
            </a:r>
            <a:endParaRPr lang="az-Latn-AZ" dirty="0">
              <a:effectLst/>
            </a:endParaRPr>
          </a:p>
          <a:p>
            <a:r>
              <a:rPr lang="az-Latn-AZ" dirty="0">
                <a:effectLst/>
              </a:rPr>
              <a:t>    ◦ </a:t>
            </a:r>
            <a:r>
              <a:rPr lang="az-Latn-AZ" b="1" dirty="0">
                <a:effectLst/>
              </a:rPr>
              <a:t>İkili Təsnifat</a:t>
            </a:r>
            <a:r>
              <a:rPr lang="az-Latn-AZ" dirty="0">
                <a:effectLst/>
              </a:rPr>
              <a:t> zamanı yalnız iki mümkün sinif (etiket) mövcud olur. Model bir nümunənin ya A sinfinə, ya da B sinfinə aid olduğunu proqnozlaşdırır. Bu tip təsnifatda hər bir nümunəyə 1 etiket təyin edilir. Məsələn, spam aşkarlanması: e-poçtu "Spam" və ya "Spam Deyil" olaraq təsnif etmək.</a:t>
            </a:r>
          </a:p>
          <a:p>
            <a:r>
              <a:rPr lang="az-Latn-AZ" dirty="0">
                <a:effectLst/>
              </a:rPr>
              <a:t>2. </a:t>
            </a:r>
            <a:r>
              <a:rPr lang="az-Latn-AZ" b="1" dirty="0">
                <a:effectLst/>
              </a:rPr>
              <a:t>Əgər problemin ikidən çox nəticəsi varsa və hər nümunəyə yalnız bir etiket təyin olunursa, Çoxsinifli Təsnifatdan (Multi-Class Classification) istifadə edin.</a:t>
            </a:r>
            <a:endParaRPr lang="az-Latn-AZ" dirty="0">
              <a:effectLst/>
            </a:endParaRPr>
          </a:p>
          <a:p>
            <a:r>
              <a:rPr lang="az-Latn-AZ" dirty="0">
                <a:effectLst/>
              </a:rPr>
              <a:t>    ◦ </a:t>
            </a:r>
            <a:r>
              <a:rPr lang="az-Latn-AZ" b="1" dirty="0">
                <a:effectLst/>
              </a:rPr>
              <a:t>Çoxsinifli Təsnifatda</a:t>
            </a:r>
            <a:r>
              <a:rPr lang="az-Latn-AZ" dirty="0">
                <a:effectLst/>
              </a:rPr>
              <a:t> ikidən çox sinif olsa da, hər bir nümunə </a:t>
            </a:r>
            <a:r>
              <a:rPr lang="az-Latn-AZ" b="1" dirty="0">
                <a:effectLst/>
              </a:rPr>
              <a:t>yalnız bir sinfə</a:t>
            </a:r>
            <a:r>
              <a:rPr lang="az-Latn-AZ" dirty="0">
                <a:effectLst/>
              </a:rPr>
              <a:t> aid olmalıdır. Bu model bir çox mümkün kateqoriyadan yalnız birini proqnozlaşdırır. Məsələn, əl yazısı rəqəmlərinin tanınması (0-9 rəqəmləri arasında seçim).</a:t>
            </a:r>
          </a:p>
          <a:p>
            <a:r>
              <a:rPr lang="az-Latn-AZ" dirty="0">
                <a:effectLst/>
              </a:rPr>
              <a:t>3. </a:t>
            </a:r>
            <a:r>
              <a:rPr lang="az-Latn-AZ" b="1" dirty="0">
                <a:effectLst/>
              </a:rPr>
              <a:t>Əgər problem hər nümunəyə birdən çox etiket təyin etməyi tələb edirsə, Çoxetiketli Təsnifatdan (Multi-Label Classification) istifadə edin.</a:t>
            </a:r>
            <a:endParaRPr lang="az-Latn-AZ" dirty="0">
              <a:effectLst/>
            </a:endParaRPr>
          </a:p>
          <a:p>
            <a:r>
              <a:rPr lang="az-Latn-AZ" dirty="0">
                <a:effectLst/>
              </a:rPr>
              <a:t>    ◦ </a:t>
            </a:r>
            <a:r>
              <a:rPr lang="az-Latn-AZ" b="1" dirty="0">
                <a:effectLst/>
              </a:rPr>
              <a:t>Çoxetiketli Təsnifat</a:t>
            </a:r>
            <a:r>
              <a:rPr lang="az-Latn-AZ" dirty="0">
                <a:effectLst/>
              </a:rPr>
              <a:t> növündə bir nümunə eyni zamanda birdən çox kateqoriyaya aid ola bilər. Burada model bir etiket əvəzinə, birdən çox etiket proqnozlaşdırır. Məsələn, film janrının təsnifatı, burada bir film həm "Ekşn", həm "Komediya", həm də "Elmi Fantastika" ola bilər.</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3</a:t>
            </a:fld>
            <a:endParaRPr lang="az-Latn-AZ"/>
          </a:p>
        </p:txBody>
      </p:sp>
    </p:spTree>
    <p:extLst>
      <p:ext uri="{BB962C8B-B14F-4D97-AF65-F5344CB8AC3E}">
        <p14:creationId xmlns:p14="http://schemas.microsoft.com/office/powerpoint/2010/main" val="2280548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b="1" dirty="0">
                <a:effectLst/>
              </a:rPr>
              <a:t>Dəstəkləyici Vektor Maşını (SVM)</a:t>
            </a:r>
            <a:r>
              <a:rPr lang="az-Latn-AZ" dirty="0">
                <a:effectLst/>
              </a:rPr>
              <a:t> (Support Vector Machine) </a:t>
            </a:r>
            <a:r>
              <a:rPr lang="az-Latn-AZ" b="1" dirty="0">
                <a:effectLst/>
              </a:rPr>
              <a:t>təsnifat (classification) və reqressiya (regression) tapşırıqları üçün istifadə olunan güclü nəzarətli öyrənmə alqoritmidir</a:t>
            </a:r>
            <a:r>
              <a:rPr lang="az-Latn-AZ" dirty="0">
                <a:effectLst/>
              </a:rPr>
              <a:t>.</a:t>
            </a:r>
          </a:p>
          <a:p>
            <a:r>
              <a:rPr lang="az-Latn-AZ" dirty="0">
                <a:effectLst/>
              </a:rPr>
              <a:t>• </a:t>
            </a:r>
            <a:r>
              <a:rPr lang="az-Latn-AZ" b="1" dirty="0">
                <a:effectLst/>
              </a:rPr>
              <a:t>İş prinsipi:</a:t>
            </a:r>
            <a:r>
              <a:rPr lang="az-Latn-AZ" dirty="0">
                <a:effectLst/>
              </a:rPr>
              <a:t> O, </a:t>
            </a:r>
            <a:r>
              <a:rPr lang="az-Latn-AZ" b="1" dirty="0">
                <a:effectLst/>
              </a:rPr>
              <a:t>verilənlər dəstində müxtəlif siniflər arasındakı marjanı (margin) maksimuma çatdıran optimal hiper-müstəvi (hyperplane) tapmaqla işləyir</a:t>
            </a:r>
            <a:r>
              <a:rPr lang="az-Latn-AZ" dirty="0">
                <a:effectLst/>
              </a:rPr>
              <a:t>. Hiper-müstəvi, verilənlər dəstində fərqli sinifləri ayıran qərar sərhəddidir.</a:t>
            </a:r>
          </a:p>
          <a:p>
            <a:r>
              <a:rPr lang="az-Latn-AZ" dirty="0">
                <a:effectLst/>
              </a:rPr>
              <a:t>• </a:t>
            </a:r>
            <a:r>
              <a:rPr lang="az-Latn-AZ" b="1" dirty="0">
                <a:effectLst/>
              </a:rPr>
              <a:t>Dəstəkləyici Vektorlar:</a:t>
            </a:r>
            <a:r>
              <a:rPr lang="az-Latn-AZ" dirty="0">
                <a:effectLst/>
              </a:rPr>
              <a:t> </a:t>
            </a:r>
            <a:r>
              <a:rPr lang="az-Latn-AZ" b="1" dirty="0">
                <a:effectLst/>
              </a:rPr>
              <a:t>SVM, qərar sərhədini müəyyən etmək üçün hiper-müstəviyə ən yaxın olan məlumat nöqtələri olan dəstəkləyici vektorlardan (support vectors) istifadə edir</a:t>
            </a:r>
            <a:r>
              <a:rPr lang="az-Latn-AZ" dirty="0">
                <a:effectLst/>
              </a:rPr>
              <a:t>.</a:t>
            </a:r>
          </a:p>
          <a:p>
            <a:r>
              <a:rPr lang="az-Latn-AZ" dirty="0">
                <a:effectLst/>
              </a:rPr>
              <a:t>• </a:t>
            </a:r>
            <a:r>
              <a:rPr lang="az-Latn-AZ" b="1" dirty="0">
                <a:effectLst/>
              </a:rPr>
              <a:t>Marja:</a:t>
            </a:r>
            <a:r>
              <a:rPr lang="az-Latn-AZ" dirty="0">
                <a:effectLst/>
              </a:rPr>
              <a:t> Marja hiper-müstəvi ilə ən yaxın dəstəkləyici vektorlar arasındakı məsafədir; </a:t>
            </a:r>
            <a:r>
              <a:rPr lang="az-Latn-AZ" b="1" dirty="0">
                <a:effectLst/>
              </a:rPr>
              <a:t>daha böyük marja daha yaxşı ümumiləşdirmə (overfitting riskinin azaldılması) deməkdir</a:t>
            </a:r>
            <a:r>
              <a:rPr lang="az-Latn-AZ" dirty="0">
                <a:effectLst/>
              </a:rPr>
              <a:t>.</a:t>
            </a:r>
          </a:p>
          <a:p>
            <a:r>
              <a:rPr lang="az-Latn-AZ" dirty="0">
                <a:effectLst/>
              </a:rPr>
              <a:t>• </a:t>
            </a:r>
            <a:r>
              <a:rPr lang="az-Latn-AZ" b="1" dirty="0">
                <a:effectLst/>
              </a:rPr>
              <a:t>Nüvə Fəndi (Kernel Trick):</a:t>
            </a:r>
            <a:r>
              <a:rPr lang="az-Latn-AZ" dirty="0">
                <a:effectLst/>
              </a:rPr>
              <a:t> </a:t>
            </a:r>
            <a:r>
              <a:rPr lang="az-Latn-AZ" b="1" dirty="0">
                <a:effectLst/>
              </a:rPr>
              <a:t>Məlumat xətti şəkildə ayrıla bilmədikdə (not linearly separable), SVM məlumatları daha yüksək ölçülü fəzaya (higher-dimensional space) çevirmək üçün nüvə fəndini tətbiq edir, burada onlar ayrıla bilən olur</a:t>
            </a:r>
            <a:r>
              <a:rPr lang="az-Latn-AZ" dirty="0">
                <a:effectLst/>
              </a:rPr>
              <a:t>. Bu, qeyri-xətti məlumatları ayırmaq üçün istifadə edilən qüvvət çevrilmələri (exponential transformations) kimi qabaqcıl ML üsullarında istifadə olunur.</a:t>
            </a:r>
          </a:p>
          <a:p>
            <a:r>
              <a:rPr lang="az-Latn-AZ" dirty="0">
                <a:effectLst/>
              </a:rPr>
              <a:t>• </a:t>
            </a:r>
            <a:r>
              <a:rPr lang="az-Latn-AZ" b="1" dirty="0">
                <a:effectLst/>
              </a:rPr>
              <a:t>Effektivlik və Tətbiq:</a:t>
            </a:r>
            <a:r>
              <a:rPr lang="az-Latn-AZ" dirty="0">
                <a:effectLst/>
              </a:rPr>
              <a:t> </a:t>
            </a:r>
            <a:r>
              <a:rPr lang="az-Latn-AZ" b="1" dirty="0">
                <a:effectLst/>
              </a:rPr>
              <a:t>Güclü ümumiləşdirmə qabiliyyətləri ilə SVM yüksək ölçülü fəzalarda xüsusilə effektivdir və təsvirin tanınması (image recognition), mətn təsnifatı (text classification) və bioinformatikada geniş istifadə olunur</a:t>
            </a:r>
            <a:r>
              <a:rPr lang="az-Latn-AZ" dirty="0">
                <a:effectLst/>
              </a:rPr>
              <a:t>.</a:t>
            </a:r>
          </a:p>
          <a:p>
            <a:r>
              <a:rPr lang="az-Latn-AZ" dirty="0">
                <a:effectLst/>
              </a:rPr>
              <a:t>Qeyd etmək lazımdır ki, SVM kimi bir çox maşın öyrənməsi modelləri, xüsusiyyətlər normal paylandıqda daha yaxşı performans göstərir, buna görə də verilənlərin </a:t>
            </a:r>
            <a:r>
              <a:rPr lang="az-Latn-AZ" b="1" dirty="0">
                <a:effectLst/>
              </a:rPr>
              <a:t>standartlaşdırılması</a:t>
            </a:r>
            <a:r>
              <a:rPr lang="az-Latn-AZ" dirty="0">
                <a:effectLst/>
              </a:rPr>
              <a:t> (Z-balı ilə mərkəzi 0 və standart kənaraçıxması 1 olan paylanmaya gətirilməsi) tövsiyə olunur.</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5</a:t>
            </a:fld>
            <a:endParaRPr lang="az-Latn-AZ"/>
          </a:p>
        </p:txBody>
      </p:sp>
    </p:spTree>
    <p:extLst>
      <p:ext uri="{BB962C8B-B14F-4D97-AF65-F5344CB8AC3E}">
        <p14:creationId xmlns:p14="http://schemas.microsoft.com/office/powerpoint/2010/main" val="3432218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b="1" dirty="0">
                <a:effectLst/>
              </a:rPr>
              <a:t>Hiper-müstəvi (Hyperplane):</a:t>
            </a:r>
            <a:endParaRPr lang="az-Latn-AZ" dirty="0">
              <a:effectLst/>
            </a:endParaRPr>
          </a:p>
          <a:p>
            <a:r>
              <a:rPr lang="az-Latn-AZ" dirty="0">
                <a:effectLst/>
              </a:rPr>
              <a:t>• </a:t>
            </a:r>
            <a:r>
              <a:rPr lang="az-Latn-AZ" b="1" dirty="0">
                <a:effectLst/>
              </a:rPr>
              <a:t>Hiper-müstəvi</a:t>
            </a:r>
            <a:r>
              <a:rPr lang="az-Latn-AZ" dirty="0">
                <a:effectLst/>
              </a:rPr>
              <a:t> verilənlər dəstində </a:t>
            </a:r>
            <a:r>
              <a:rPr lang="az-Latn-AZ" b="1" dirty="0">
                <a:effectLst/>
              </a:rPr>
              <a:t>müxtəlif sinifləri ayıran qərar sərhəddidir</a:t>
            </a:r>
            <a:r>
              <a:rPr lang="az-Latn-AZ" dirty="0">
                <a:effectLst/>
              </a:rPr>
              <a:t>.</a:t>
            </a:r>
          </a:p>
          <a:p>
            <a:r>
              <a:rPr lang="az-Latn-AZ" dirty="0">
                <a:effectLst/>
              </a:rPr>
              <a:t>• 2 ölçülü (2D) fəzada o, </a:t>
            </a:r>
            <a:r>
              <a:rPr lang="az-Latn-AZ" b="1" dirty="0">
                <a:effectLst/>
              </a:rPr>
              <a:t>düz xətdir</a:t>
            </a:r>
            <a:r>
              <a:rPr lang="az-Latn-AZ" dirty="0">
                <a:effectLst/>
              </a:rPr>
              <a:t>; 3 ölçülü (3D) fəzada </a:t>
            </a:r>
            <a:r>
              <a:rPr lang="az-Latn-AZ" b="1" dirty="0">
                <a:effectLst/>
              </a:rPr>
              <a:t>müstəvidir</a:t>
            </a:r>
            <a:r>
              <a:rPr lang="az-Latn-AZ" dirty="0">
                <a:effectLst/>
              </a:rPr>
              <a:t>; daha yüksək ölçülərdə isə </a:t>
            </a:r>
            <a:r>
              <a:rPr lang="az-Latn-AZ" b="1" dirty="0">
                <a:effectLst/>
              </a:rPr>
              <a:t>hiper-müstəvidir</a:t>
            </a:r>
            <a:r>
              <a:rPr lang="az-Latn-AZ" dirty="0">
                <a:effectLst/>
              </a:rPr>
              <a:t>.</a:t>
            </a:r>
          </a:p>
          <a:p>
            <a:r>
              <a:rPr lang="az-Latn-AZ" dirty="0">
                <a:effectLst/>
              </a:rPr>
              <a:t>• </a:t>
            </a:r>
            <a:r>
              <a:rPr lang="az-Latn-AZ" b="1" dirty="0">
                <a:effectLst/>
              </a:rPr>
              <a:t>SVM-in məqsədi siniflər arasındakı marjanı maksimuma çatdıran optimal hiper-müstəvini tapmaqdır</a:t>
            </a:r>
            <a:r>
              <a:rPr lang="az-Latn-AZ" dirty="0">
                <a:effectLst/>
              </a:rPr>
              <a:t>.</a:t>
            </a:r>
          </a:p>
          <a:p>
            <a:r>
              <a:rPr lang="az-Latn-AZ" b="1" dirty="0">
                <a:effectLst/>
              </a:rPr>
              <a:t>Dəstəkləyici Vektorlar (Support Vectors):</a:t>
            </a:r>
            <a:endParaRPr lang="az-Latn-AZ" dirty="0">
              <a:effectLst/>
            </a:endParaRPr>
          </a:p>
          <a:p>
            <a:r>
              <a:rPr lang="az-Latn-AZ" dirty="0">
                <a:effectLst/>
              </a:rPr>
              <a:t>• </a:t>
            </a:r>
            <a:r>
              <a:rPr lang="az-Latn-AZ" b="1" dirty="0">
                <a:effectLst/>
              </a:rPr>
              <a:t>Dəstəkləyici vektorlar hiper-müstəviyə ən yaxın olan məlumat nöqtələridir</a:t>
            </a:r>
            <a:r>
              <a:rPr lang="az-Latn-AZ" dirty="0">
                <a:effectLst/>
              </a:rPr>
              <a:t>.</a:t>
            </a:r>
          </a:p>
          <a:p>
            <a:r>
              <a:rPr lang="az-Latn-AZ" dirty="0">
                <a:effectLst/>
              </a:rPr>
              <a:t>• Bu nöqtələr </a:t>
            </a:r>
            <a:r>
              <a:rPr lang="az-Latn-AZ" b="1" dirty="0">
                <a:effectLst/>
              </a:rPr>
              <a:t>marjanı müəyyən edir</a:t>
            </a:r>
            <a:r>
              <a:rPr lang="az-Latn-AZ" dirty="0">
                <a:effectLst/>
              </a:rPr>
              <a:t> və </a:t>
            </a:r>
            <a:r>
              <a:rPr lang="az-Latn-AZ" b="1" dirty="0">
                <a:effectLst/>
              </a:rPr>
              <a:t>hiper-müstəvinin vəziyyətinə təsir göstərir</a:t>
            </a:r>
            <a:r>
              <a:rPr lang="az-Latn-AZ" dirty="0">
                <a:effectLst/>
              </a:rPr>
              <a:t>.</a:t>
            </a:r>
          </a:p>
          <a:p>
            <a:r>
              <a:rPr lang="az-Latn-AZ" dirty="0">
                <a:effectLst/>
              </a:rPr>
              <a:t>• Hətta digər nöqtələr silinsə belə, </a:t>
            </a:r>
            <a:r>
              <a:rPr lang="az-Latn-AZ" b="1" dirty="0">
                <a:effectLst/>
              </a:rPr>
              <a:t>qərar sərhəddi eyni qalır</a:t>
            </a:r>
            <a:r>
              <a:rPr lang="az-Latn-AZ" dirty="0">
                <a:effectLst/>
              </a:rPr>
              <a:t>, çünki onu yalnız </a:t>
            </a:r>
            <a:r>
              <a:rPr lang="az-Latn-AZ" b="1" dirty="0">
                <a:effectLst/>
              </a:rPr>
              <a:t>dəstəkləyici vektorlar müəyyən edir</a:t>
            </a:r>
            <a:r>
              <a:rPr lang="az-Latn-AZ" dirty="0">
                <a:effectLst/>
              </a:rPr>
              <a:t>.</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6</a:t>
            </a:fld>
            <a:endParaRPr lang="az-Latn-AZ"/>
          </a:p>
        </p:txBody>
      </p:sp>
    </p:spTree>
    <p:extLst>
      <p:ext uri="{BB962C8B-B14F-4D97-AF65-F5344CB8AC3E}">
        <p14:creationId xmlns:p14="http://schemas.microsoft.com/office/powerpoint/2010/main" val="375427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b="1" dirty="0">
                <a:effectLst/>
              </a:rPr>
              <a:t>Marja (Margin):</a:t>
            </a:r>
            <a:endParaRPr lang="az-Latn-AZ" dirty="0">
              <a:effectLst/>
            </a:endParaRPr>
          </a:p>
          <a:p>
            <a:r>
              <a:rPr lang="az-Latn-AZ" dirty="0">
                <a:effectLst/>
              </a:rPr>
              <a:t>• </a:t>
            </a:r>
            <a:r>
              <a:rPr lang="az-Latn-AZ" b="1" dirty="0">
                <a:effectLst/>
              </a:rPr>
              <a:t>Marja, hiper-müstəvi (hyperplane) ilə ona ən yaxın dəstəkləyici vektorlar (support vectors) arasındakı məsafədir.</a:t>
            </a:r>
            <a:endParaRPr lang="az-Latn-AZ" dirty="0">
              <a:effectLst/>
            </a:endParaRPr>
          </a:p>
          <a:p>
            <a:r>
              <a:rPr lang="az-Latn-AZ" dirty="0">
                <a:effectLst/>
              </a:rPr>
              <a:t>• </a:t>
            </a:r>
            <a:r>
              <a:rPr lang="az-Latn-AZ" b="1" dirty="0">
                <a:effectLst/>
              </a:rPr>
              <a:t>Daha böyük marja daha yaxşı ümumiləşdirmə (overfitting riskinin azaldılması) deməkdir.</a:t>
            </a:r>
            <a:endParaRPr lang="az-Latn-AZ" dirty="0">
              <a:effectLst/>
            </a:endParaRPr>
          </a:p>
          <a:p>
            <a:r>
              <a:rPr lang="az-Latn-AZ" dirty="0">
                <a:effectLst/>
              </a:rPr>
              <a:t>• </a:t>
            </a:r>
            <a:r>
              <a:rPr lang="az-Latn-AZ" b="1" dirty="0">
                <a:effectLst/>
              </a:rPr>
              <a:t>Dəstəkləyici Vektor Maşını (SVM), siniflərin daha yaxşı ayrılması üçün maksimum marja hiper-müstəvisini (MMH - Maximum Margin Hyperplane) tapmağı hədəfləyir.</a:t>
            </a:r>
            <a:endParaRPr lang="az-Latn-AZ" dirty="0">
              <a:effectLst/>
            </a:endParaRP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7</a:t>
            </a:fld>
            <a:endParaRPr lang="az-Latn-AZ"/>
          </a:p>
        </p:txBody>
      </p:sp>
    </p:spTree>
    <p:extLst>
      <p:ext uri="{BB962C8B-B14F-4D97-AF65-F5344CB8AC3E}">
        <p14:creationId xmlns:p14="http://schemas.microsoft.com/office/powerpoint/2010/main" val="3023954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sz="1200" b="1" i="0" kern="1200" dirty="0">
                <a:solidFill>
                  <a:schemeClr val="tx1"/>
                </a:solidFill>
                <a:effectLst/>
                <a:latin typeface="+mn-lt"/>
                <a:ea typeface="+mn-ea"/>
                <a:cs typeface="+mn-cs"/>
              </a:rPr>
              <a:t>Nüvə Fəndi (Kernel Trick):</a:t>
            </a:r>
            <a:endParaRPr lang="az-Latn-AZ" sz="1200" b="0" i="0" kern="1200" dirty="0">
              <a:solidFill>
                <a:schemeClr val="tx1"/>
              </a:solidFill>
              <a:effectLst/>
              <a:latin typeface="+mn-lt"/>
              <a:ea typeface="+mn-ea"/>
              <a:cs typeface="+mn-cs"/>
            </a:endParaRPr>
          </a:p>
          <a:p>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Bəzi verilənlər dəstləri</a:t>
            </a:r>
            <a:r>
              <a:rPr lang="az-Latn-AZ" sz="1200" b="0" i="0" kern="1200" dirty="0">
                <a:solidFill>
                  <a:schemeClr val="tx1"/>
                </a:solidFill>
                <a:effectLst/>
                <a:latin typeface="+mn-lt"/>
                <a:ea typeface="+mn-ea"/>
                <a:cs typeface="+mn-cs"/>
              </a:rPr>
              <a:t> orijinal formada </a:t>
            </a:r>
            <a:r>
              <a:rPr lang="az-Latn-AZ" sz="1200" b="1" i="0" kern="1200" dirty="0">
                <a:solidFill>
                  <a:schemeClr val="tx1"/>
                </a:solidFill>
                <a:effectLst/>
                <a:latin typeface="+mn-lt"/>
                <a:ea typeface="+mn-ea"/>
                <a:cs typeface="+mn-cs"/>
              </a:rPr>
              <a:t>xətti şəkildə ayrıla bilmir</a:t>
            </a:r>
            <a:r>
              <a:rPr lang="az-Latn-AZ" sz="1200" b="0" i="0" kern="1200" dirty="0">
                <a:solidFill>
                  <a:schemeClr val="tx1"/>
                </a:solidFill>
                <a:effectLst/>
                <a:latin typeface="+mn-lt"/>
                <a:ea typeface="+mn-ea"/>
                <a:cs typeface="+mn-cs"/>
              </a:rPr>
              <a:t> (not linearly separable).</a:t>
            </a:r>
          </a:p>
          <a:p>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Nüvə Fəndi məlumatları daha yüksək ölçülü fəzaya çevirir</a:t>
            </a:r>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burada onlar ayrıla bilən olur</a:t>
            </a:r>
            <a:r>
              <a:rPr lang="az-Latn-AZ" sz="1200" b="0" i="0" kern="1200" dirty="0">
                <a:solidFill>
                  <a:schemeClr val="tx1"/>
                </a:solidFill>
                <a:effectLst/>
                <a:latin typeface="+mn-lt"/>
                <a:ea typeface="+mn-ea"/>
                <a:cs typeface="+mn-cs"/>
              </a:rPr>
              <a:t>.</a:t>
            </a:r>
          </a:p>
          <a:p>
            <a:r>
              <a:rPr lang="az-Latn-AZ" sz="1200" b="0" i="0" kern="1200" dirty="0">
                <a:solidFill>
                  <a:schemeClr val="tx1"/>
                </a:solidFill>
                <a:effectLst/>
                <a:latin typeface="+mn-lt"/>
                <a:ea typeface="+mn-ea"/>
                <a:cs typeface="+mn-cs"/>
              </a:rPr>
              <a:t>• Bu çevrilmə, </a:t>
            </a:r>
            <a:r>
              <a:rPr lang="az-Latn-AZ" sz="1200" b="1" i="0" kern="1200" dirty="0">
                <a:solidFill>
                  <a:schemeClr val="tx1"/>
                </a:solidFill>
                <a:effectLst/>
                <a:latin typeface="+mn-lt"/>
                <a:ea typeface="+mn-ea"/>
                <a:cs typeface="+mn-cs"/>
              </a:rPr>
              <a:t>qeyri-xətti məlumatları</a:t>
            </a:r>
            <a:r>
              <a:rPr lang="az-Latn-AZ" sz="1200" b="0" i="0" kern="1200" dirty="0">
                <a:solidFill>
                  <a:schemeClr val="tx1"/>
                </a:solidFill>
                <a:effectLst/>
                <a:latin typeface="+mn-lt"/>
                <a:ea typeface="+mn-ea"/>
                <a:cs typeface="+mn-cs"/>
              </a:rPr>
              <a:t> ayırmaq üçün </a:t>
            </a:r>
            <a:r>
              <a:rPr lang="az-Latn-AZ" sz="1200" b="1" i="0" kern="1200" dirty="0">
                <a:solidFill>
                  <a:schemeClr val="tx1"/>
                </a:solidFill>
                <a:effectLst/>
                <a:latin typeface="+mn-lt"/>
                <a:ea typeface="+mn-ea"/>
                <a:cs typeface="+mn-cs"/>
              </a:rPr>
              <a:t>eksponensial çevrilmələr</a:t>
            </a:r>
            <a:r>
              <a:rPr lang="az-Latn-AZ" sz="1200" b="0" i="0" kern="1200" dirty="0">
                <a:solidFill>
                  <a:schemeClr val="tx1"/>
                </a:solidFill>
                <a:effectLst/>
                <a:latin typeface="+mn-lt"/>
                <a:ea typeface="+mn-ea"/>
                <a:cs typeface="+mn-cs"/>
              </a:rPr>
              <a:t> kimi qabaqcıl Maşın Öyrənməsi (ML) üsullarında (məsələn, </a:t>
            </a:r>
            <a:r>
              <a:rPr lang="az-Latn-AZ" sz="1200" b="1" i="0" kern="1200" dirty="0">
                <a:solidFill>
                  <a:schemeClr val="tx1"/>
                </a:solidFill>
                <a:effectLst/>
                <a:latin typeface="+mn-lt"/>
                <a:ea typeface="+mn-ea"/>
                <a:cs typeface="+mn-cs"/>
              </a:rPr>
              <a:t>Dəstəkləyici Vektor Maşınlarında (SVM)</a:t>
            </a:r>
            <a:r>
              <a:rPr lang="az-Latn-AZ" sz="1200" b="0" i="0" kern="1200" dirty="0">
                <a:solidFill>
                  <a:schemeClr val="tx1"/>
                </a:solidFill>
                <a:effectLst/>
                <a:latin typeface="+mn-lt"/>
                <a:ea typeface="+mn-ea"/>
                <a:cs typeface="+mn-cs"/>
              </a:rPr>
              <a:t> nüvə metodları və ya polinomial reqressiyada) istifadə olunur.</a:t>
            </a:r>
          </a:p>
          <a:p>
            <a:r>
              <a:rPr lang="az-Latn-AZ" sz="1200" b="1" i="0" kern="1200" dirty="0">
                <a:solidFill>
                  <a:schemeClr val="tx1"/>
                </a:solidFill>
                <a:effectLst/>
                <a:latin typeface="+mn-lt"/>
                <a:ea typeface="+mn-ea"/>
                <a:cs typeface="+mn-cs"/>
              </a:rPr>
              <a:t>Ümumi Nüvə Funksiyaları (Common kernel functions):</a:t>
            </a:r>
            <a:endParaRPr lang="az-Latn-AZ" sz="1200" b="0" i="0" kern="1200" dirty="0">
              <a:solidFill>
                <a:schemeClr val="tx1"/>
              </a:solidFill>
              <a:effectLst/>
              <a:latin typeface="+mn-lt"/>
              <a:ea typeface="+mn-ea"/>
              <a:cs typeface="+mn-cs"/>
            </a:endParaRPr>
          </a:p>
          <a:p>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Xətti Nüvə (Linear Kernel):</a:t>
            </a:r>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Verilənlər xətti şəkildə ayrıla bilən olduqda istifadə olunur</a:t>
            </a:r>
            <a:r>
              <a:rPr lang="az-Latn-AZ" sz="1200" b="0" i="0" kern="1200" dirty="0">
                <a:solidFill>
                  <a:schemeClr val="tx1"/>
                </a:solidFill>
                <a:effectLst/>
                <a:latin typeface="+mn-lt"/>
                <a:ea typeface="+mn-ea"/>
                <a:cs typeface="+mn-cs"/>
              </a:rPr>
              <a:t>.</a:t>
            </a:r>
          </a:p>
          <a:p>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Polinomial Nüvə (Polynomial Kernel):</a:t>
            </a:r>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Əyri sərhədlər üçün faydalıdır</a:t>
            </a:r>
            <a:r>
              <a:rPr lang="az-Latn-AZ" sz="1200" b="0" i="0" kern="1200" dirty="0">
                <a:solidFill>
                  <a:schemeClr val="tx1"/>
                </a:solidFill>
                <a:effectLst/>
                <a:latin typeface="+mn-lt"/>
                <a:ea typeface="+mn-ea"/>
                <a:cs typeface="+mn-cs"/>
              </a:rPr>
              <a:t>.</a:t>
            </a:r>
          </a:p>
          <a:p>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Radial Əsas Funksiya Nüvəsi (RBF Kernel - Radial Basis Function):</a:t>
            </a:r>
            <a:r>
              <a:rPr lang="az-Latn-AZ" sz="1200" b="0" i="0" kern="1200" dirty="0">
                <a:solidFill>
                  <a:schemeClr val="tx1"/>
                </a:solidFill>
                <a:effectLst/>
                <a:latin typeface="+mn-lt"/>
                <a:ea typeface="+mn-ea"/>
                <a:cs typeface="+mn-cs"/>
              </a:rPr>
              <a:t> </a:t>
            </a:r>
            <a:r>
              <a:rPr lang="az-Latn-AZ" sz="1200" b="1" i="0" kern="1200" dirty="0">
                <a:solidFill>
                  <a:schemeClr val="tx1"/>
                </a:solidFill>
                <a:effectLst/>
                <a:latin typeface="+mn-lt"/>
                <a:ea typeface="+mn-ea"/>
                <a:cs typeface="+mn-cs"/>
              </a:rPr>
              <a:t>Kompleks, qeyri-xətti qərar sərhədləri üçün geniş istifadə olunur</a:t>
            </a:r>
            <a:r>
              <a:rPr lang="az-Latn-AZ" sz="1200" b="0" i="0" kern="1200" dirty="0">
                <a:solidFill>
                  <a:schemeClr val="tx1"/>
                </a:solidFill>
                <a:effectLst/>
                <a:latin typeface="+mn-lt"/>
                <a:ea typeface="+mn-ea"/>
                <a:cs typeface="+mn-cs"/>
              </a:rPr>
              <a:t>.</a:t>
            </a:r>
          </a:p>
          <a:p>
            <a:r>
              <a:rPr lang="az-Latn-AZ" sz="1200" b="0" i="0" kern="1200" dirty="0">
                <a:solidFill>
                  <a:schemeClr val="tx1"/>
                </a:solidFill>
                <a:effectLst/>
                <a:latin typeface="+mn-lt"/>
                <a:ea typeface="+mn-ea"/>
                <a:cs typeface="+mn-cs"/>
              </a:rPr>
              <a:t>Nüvə Fəndi SVM alqoritminin əsas terminologiyalarından biridir. Bu, modelin </a:t>
            </a:r>
            <a:r>
              <a:rPr lang="az-Latn-AZ" sz="1200" b="1" i="0" kern="1200" dirty="0">
                <a:solidFill>
                  <a:schemeClr val="tx1"/>
                </a:solidFill>
                <a:effectLst/>
                <a:latin typeface="+mn-lt"/>
                <a:ea typeface="+mn-ea"/>
                <a:cs typeface="+mn-cs"/>
              </a:rPr>
              <a:t>güclü ümumiləşdirmə qabiliyyətlərini</a:t>
            </a:r>
            <a:r>
              <a:rPr lang="az-Latn-AZ" sz="1200" b="0" i="0" kern="1200" dirty="0">
                <a:solidFill>
                  <a:schemeClr val="tx1"/>
                </a:solidFill>
                <a:effectLst/>
                <a:latin typeface="+mn-lt"/>
                <a:ea typeface="+mn-ea"/>
                <a:cs typeface="+mn-cs"/>
              </a:rPr>
              <a:t> təmin edən və onu </a:t>
            </a:r>
            <a:r>
              <a:rPr lang="az-Latn-AZ" sz="1200" b="1" i="0" kern="1200" dirty="0">
                <a:solidFill>
                  <a:schemeClr val="tx1"/>
                </a:solidFill>
                <a:effectLst/>
                <a:latin typeface="+mn-lt"/>
                <a:ea typeface="+mn-ea"/>
                <a:cs typeface="+mn-cs"/>
              </a:rPr>
              <a:t>yüksək ölçülü fəzalarda</a:t>
            </a:r>
            <a:r>
              <a:rPr lang="az-Latn-AZ" sz="1200" b="0" i="0" kern="1200" dirty="0">
                <a:solidFill>
                  <a:schemeClr val="tx1"/>
                </a:solidFill>
                <a:effectLst/>
                <a:latin typeface="+mn-lt"/>
                <a:ea typeface="+mn-ea"/>
                <a:cs typeface="+mn-cs"/>
              </a:rPr>
              <a:t> effektiv edən bir üsuldur.</a:t>
            </a:r>
          </a:p>
          <a:p>
            <a:br>
              <a:rPr lang="az-Latn-AZ" dirty="0"/>
            </a:br>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8</a:t>
            </a:fld>
            <a:endParaRPr lang="az-Latn-AZ"/>
          </a:p>
        </p:txBody>
      </p:sp>
    </p:spTree>
    <p:extLst>
      <p:ext uri="{BB962C8B-B14F-4D97-AF65-F5344CB8AC3E}">
        <p14:creationId xmlns:p14="http://schemas.microsoft.com/office/powerpoint/2010/main" val="2543093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b="1" dirty="0">
                <a:effectLst/>
              </a:rPr>
              <a:t>Nüvə Fəndi (Kernel Trick):</a:t>
            </a:r>
            <a:endParaRPr lang="az-Latn-AZ" dirty="0">
              <a:effectLst/>
            </a:endParaRPr>
          </a:p>
          <a:p>
            <a:r>
              <a:rPr lang="az-Latn-AZ" b="1" dirty="0">
                <a:effectLst/>
              </a:rPr>
              <a:t>Ümumi nüvə funksiyaları (Common kernel functions):</a:t>
            </a:r>
            <a:endParaRPr lang="az-Latn-AZ" dirty="0">
              <a:effectLst/>
            </a:endParaRPr>
          </a:p>
          <a:p>
            <a:r>
              <a:rPr lang="az-Latn-AZ" dirty="0">
                <a:effectLst/>
              </a:rPr>
              <a:t>• </a:t>
            </a:r>
            <a:r>
              <a:rPr lang="az-Latn-AZ" b="1" dirty="0">
                <a:effectLst/>
              </a:rPr>
              <a:t>Polinomial Nüvə (Polynomial Kernel):</a:t>
            </a:r>
            <a:r>
              <a:rPr lang="az-Latn-AZ" dirty="0">
                <a:effectLst/>
              </a:rPr>
              <a:t> </a:t>
            </a:r>
            <a:r>
              <a:rPr lang="az-Latn-AZ" b="1" dirty="0">
                <a:effectLst/>
              </a:rPr>
              <a:t>Əyri sərhədlər üçün faydalıdır</a:t>
            </a:r>
            <a:r>
              <a:rPr lang="az-Latn-AZ" dirty="0">
                <a:effectLst/>
              </a:rPr>
              <a:t>.</a:t>
            </a:r>
          </a:p>
          <a:p>
            <a:r>
              <a:rPr lang="az-Latn-AZ" dirty="0">
                <a:effectLst/>
              </a:rPr>
              <a:t>• </a:t>
            </a:r>
            <a:r>
              <a:rPr lang="az-Latn-AZ" b="1" dirty="0">
                <a:effectLst/>
              </a:rPr>
              <a:t>Radial Əsas Funksiya (RBF) Nüvəsi (Radial Basis Function Kernel):</a:t>
            </a:r>
            <a:r>
              <a:rPr lang="az-Latn-AZ" dirty="0">
                <a:effectLst/>
              </a:rPr>
              <a:t> </a:t>
            </a:r>
            <a:r>
              <a:rPr lang="az-Latn-AZ" b="1" dirty="0">
                <a:effectLst/>
              </a:rPr>
              <a:t>Kompleks, qeyri-xətti qərar sərhədləri üçün geniş istifadə olunur</a:t>
            </a:r>
            <a:r>
              <a:rPr lang="az-Latn-AZ" dirty="0">
                <a:effectLst/>
              </a:rPr>
              <a:t>.</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9</a:t>
            </a:fld>
            <a:endParaRPr lang="az-Latn-AZ"/>
          </a:p>
        </p:txBody>
      </p:sp>
    </p:spTree>
    <p:extLst>
      <p:ext uri="{BB962C8B-B14F-4D97-AF65-F5344CB8AC3E}">
        <p14:creationId xmlns:p14="http://schemas.microsoft.com/office/powerpoint/2010/main" val="1305983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11</a:t>
            </a:fld>
            <a:endParaRPr lang="az-Latn-AZ"/>
          </a:p>
        </p:txBody>
      </p:sp>
    </p:spTree>
    <p:extLst>
      <p:ext uri="{BB962C8B-B14F-4D97-AF65-F5344CB8AC3E}">
        <p14:creationId xmlns:p14="http://schemas.microsoft.com/office/powerpoint/2010/main" val="1739290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dirty="0">
                <a:effectLst/>
              </a:rPr>
              <a:t>Səhv Matrisi (Confusion Matrix)</a:t>
            </a:r>
          </a:p>
          <a:p>
            <a:r>
              <a:rPr lang="az-Latn-AZ" b="1" dirty="0">
                <a:effectLst/>
              </a:rPr>
              <a:t>Səhv Matrisi (Confusion Matrix)</a:t>
            </a:r>
            <a:r>
              <a:rPr lang="az-Latn-AZ" dirty="0">
                <a:effectLst/>
              </a:rPr>
              <a:t> </a:t>
            </a:r>
            <a:r>
              <a:rPr lang="az-Latn-AZ" b="1" dirty="0">
                <a:effectLst/>
              </a:rPr>
              <a:t>təsnifat modelinin (classification model) performansını qiymətləndirmək üçün istifadə olunan bir cədvəldir</a:t>
            </a:r>
            <a:r>
              <a:rPr lang="az-Latn-AZ" dirty="0">
                <a:effectLst/>
              </a:rPr>
              <a:t>. O, </a:t>
            </a:r>
            <a:r>
              <a:rPr lang="az-Latn-AZ" b="1" dirty="0">
                <a:effectLst/>
              </a:rPr>
              <a:t>faktiki etiketləri (actual labels) proqnozlaşdırılan etiketlərlə müqayisə edir</a:t>
            </a:r>
            <a:r>
              <a:rPr lang="az-Latn-AZ" dirty="0">
                <a:effectLst/>
              </a:rPr>
              <a:t> və </a:t>
            </a:r>
            <a:r>
              <a:rPr lang="az-Latn-AZ" b="1" dirty="0">
                <a:effectLst/>
              </a:rPr>
              <a:t>təsnifatdakı səhvləri müəyyən etməyə kömək edir</a:t>
            </a:r>
            <a:r>
              <a:rPr lang="az-Latn-AZ" dirty="0">
                <a:effectLst/>
              </a:rPr>
              <a:t>.</a:t>
            </a:r>
          </a:p>
          <a:p>
            <a:r>
              <a:rPr lang="az-Latn-AZ" dirty="0">
                <a:effectLst/>
              </a:rPr>
              <a:t>Səhv Matrisinin əsas komponentləri aşağıdakılardır:</a:t>
            </a:r>
          </a:p>
          <a:p>
            <a:r>
              <a:rPr lang="az-Latn-AZ" dirty="0">
                <a:effectLst/>
              </a:rPr>
              <a:t>• </a:t>
            </a:r>
            <a:r>
              <a:rPr lang="az-Latn-AZ" b="1" dirty="0">
                <a:effectLst/>
              </a:rPr>
              <a:t>Həqiqi Müsbət (True Positive - TP):</a:t>
            </a:r>
            <a:r>
              <a:rPr lang="az-Latn-AZ" dirty="0">
                <a:effectLst/>
              </a:rPr>
              <a:t> </a:t>
            </a:r>
            <a:r>
              <a:rPr lang="az-Latn-AZ" b="1" dirty="0">
                <a:effectLst/>
              </a:rPr>
              <a:t>Düzgün proqnozlaşdırılan müsbət hallardır</a:t>
            </a:r>
            <a:r>
              <a:rPr lang="az-Latn-AZ" dirty="0">
                <a:effectLst/>
              </a:rPr>
              <a:t> (məsələn, faktiki spam olan bir e-poçtun spam kimi aşkarlanması).</a:t>
            </a:r>
          </a:p>
          <a:p>
            <a:r>
              <a:rPr lang="az-Latn-AZ" dirty="0">
                <a:effectLst/>
              </a:rPr>
              <a:t>• </a:t>
            </a:r>
            <a:r>
              <a:rPr lang="az-Latn-AZ" b="1" dirty="0">
                <a:effectLst/>
              </a:rPr>
              <a:t>Həqiqi Mənfi (True Negative - TN):</a:t>
            </a:r>
            <a:r>
              <a:rPr lang="az-Latn-AZ" dirty="0">
                <a:effectLst/>
              </a:rPr>
              <a:t> </a:t>
            </a:r>
            <a:r>
              <a:rPr lang="az-Latn-AZ" b="1" dirty="0">
                <a:effectLst/>
              </a:rPr>
              <a:t>Düzgün proqnozlaşdırılan mənfi hallardır</a:t>
            </a:r>
            <a:r>
              <a:rPr lang="az-Latn-AZ" dirty="0">
                <a:effectLst/>
              </a:rPr>
              <a:t> (məsələn, faktiki spam olmayan bir e-poçtun spam yox kimi aşkarlanması).</a:t>
            </a:r>
          </a:p>
          <a:p>
            <a:r>
              <a:rPr lang="az-Latn-AZ" dirty="0">
                <a:effectLst/>
              </a:rPr>
              <a:t>• </a:t>
            </a:r>
            <a:r>
              <a:rPr lang="az-Latn-AZ" b="1" dirty="0">
                <a:effectLst/>
              </a:rPr>
              <a:t>Yalançı Müsbət (False Positive - FP) (I Tip Səhv):</a:t>
            </a:r>
            <a:r>
              <a:rPr lang="az-Latn-AZ" dirty="0">
                <a:effectLst/>
              </a:rPr>
              <a:t> </a:t>
            </a:r>
            <a:r>
              <a:rPr lang="az-Latn-AZ" b="1" dirty="0">
                <a:effectLst/>
              </a:rPr>
              <a:t>Səhvən mənfi halın müsbət kimi təsnif edilməsidir</a:t>
            </a:r>
            <a:r>
              <a:rPr lang="az-Latn-AZ" dirty="0">
                <a:effectLst/>
              </a:rPr>
              <a:t> (məsələn, normal bir e-poçtun spam kimi qeyd edilməsi). Yalançı müsbətlərin azaldılması </a:t>
            </a:r>
            <a:r>
              <a:rPr lang="az-Latn-AZ" b="1" dirty="0">
                <a:effectLst/>
              </a:rPr>
              <a:t>Precision</a:t>
            </a:r>
            <a:r>
              <a:rPr lang="az-Latn-AZ" dirty="0">
                <a:effectLst/>
              </a:rPr>
              <a:t> (Dəqiqlik) metriki üçün vacibdir.</a:t>
            </a:r>
          </a:p>
          <a:p>
            <a:r>
              <a:rPr lang="az-Latn-AZ" dirty="0">
                <a:effectLst/>
              </a:rPr>
              <a:t>• </a:t>
            </a:r>
            <a:r>
              <a:rPr lang="az-Latn-AZ" b="1" dirty="0">
                <a:effectLst/>
              </a:rPr>
              <a:t>Yalançı Mənfi (False Negative - FN) (II Tip Səhv):</a:t>
            </a:r>
            <a:r>
              <a:rPr lang="az-Latn-AZ" dirty="0">
                <a:effectLst/>
              </a:rPr>
              <a:t> </a:t>
            </a:r>
            <a:r>
              <a:rPr lang="az-Latn-AZ" b="1" dirty="0">
                <a:effectLst/>
              </a:rPr>
              <a:t>Səhvən müsbət halın mənfi kimi təsnif edilməsidir</a:t>
            </a:r>
            <a:r>
              <a:rPr lang="az-Latn-AZ" dirty="0">
                <a:effectLst/>
              </a:rPr>
              <a:t> (məsələn, spam e-poçtun gözdən qaçırılması). Yalançı mənfilərin minimuma endirilməsi </a:t>
            </a:r>
            <a:r>
              <a:rPr lang="az-Latn-AZ" b="1" dirty="0">
                <a:effectLst/>
              </a:rPr>
              <a:t>Recall</a:t>
            </a:r>
            <a:r>
              <a:rPr lang="az-Latn-AZ" dirty="0">
                <a:effectLst/>
              </a:rPr>
              <a:t> (Həssaslıq) metriki üçün kritikdir.</a:t>
            </a:r>
          </a:p>
          <a:p>
            <a:br>
              <a:rPr lang="az-Latn-AZ" dirty="0"/>
            </a:br>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12</a:t>
            </a:fld>
            <a:endParaRPr lang="az-Latn-AZ"/>
          </a:p>
        </p:txBody>
      </p:sp>
    </p:spTree>
    <p:extLst>
      <p:ext uri="{BB962C8B-B14F-4D97-AF65-F5344CB8AC3E}">
        <p14:creationId xmlns:p14="http://schemas.microsoft.com/office/powerpoint/2010/main" val="2932082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dirty="0">
                <a:effectLst/>
              </a:rPr>
              <a:t>Dəqiqlik (Accuracy)</a:t>
            </a:r>
          </a:p>
          <a:p>
            <a:r>
              <a:rPr lang="az-Latn-AZ" b="1" dirty="0">
                <a:effectLst/>
              </a:rPr>
              <a:t>Dəqiqlik</a:t>
            </a:r>
            <a:r>
              <a:rPr lang="az-Latn-AZ" dirty="0">
                <a:effectLst/>
              </a:rPr>
              <a:t> (Accuracy) modelin proqnozlarının ümumilikdə </a:t>
            </a:r>
            <a:r>
              <a:rPr lang="az-Latn-AZ" b="1" dirty="0">
                <a:effectLst/>
              </a:rPr>
              <a:t>nə qədər tez-tez düzgün olduğunu ölçür</a:t>
            </a:r>
            <a:r>
              <a:rPr lang="az-Latn-AZ" dirty="0">
                <a:effectLst/>
              </a:rPr>
              <a:t>. Bu, modelin nə qədər yaxşı fəaliyyət göstərdiyinə dair </a:t>
            </a:r>
            <a:r>
              <a:rPr lang="az-Latn-AZ" b="1" dirty="0">
                <a:effectLst/>
              </a:rPr>
              <a:t>ümumi bir fikir verir</a:t>
            </a:r>
            <a:r>
              <a:rPr lang="az-Latn-AZ" dirty="0">
                <a:effectLst/>
              </a:rPr>
              <a:t>.</a:t>
            </a:r>
          </a:p>
          <a:p>
            <a:r>
              <a:rPr lang="az-Latn-AZ" dirty="0">
                <a:effectLst/>
              </a:rPr>
              <a:t>• </a:t>
            </a:r>
            <a:r>
              <a:rPr lang="az-Latn-AZ" b="1" dirty="0">
                <a:effectLst/>
              </a:rPr>
              <a:t>Problem:</a:t>
            </a:r>
            <a:r>
              <a:rPr lang="az-Latn-AZ" dirty="0">
                <a:effectLst/>
              </a:rPr>
              <a:t> Lakin, dəqiqlik xüsusilə </a:t>
            </a:r>
            <a:r>
              <a:rPr lang="az-Latn-AZ" b="1" dirty="0">
                <a:effectLst/>
              </a:rPr>
              <a:t>bir sinfin üstünlük təşkil etdiyi qeyri-balanslaşdırılmış verilənlər dəstləri (imbalanced datasets) ilə işləyərkən yanlış ola bilər</a:t>
            </a:r>
            <a:r>
              <a:rPr lang="az-Latn-AZ" dirty="0">
                <a:effectLst/>
              </a:rPr>
              <a:t>. Məsələn, </a:t>
            </a:r>
            <a:r>
              <a:rPr lang="az-Latn-AZ" b="1" dirty="0">
                <a:effectLst/>
              </a:rPr>
              <a:t>əksər hallarda çoxluq sinfini düzgün proqnozlaşdıran bir modelin yüksək dəqiqliyi ola bilər, lakin buna baxmayaraq digər siniflər haqqında vacib detalları əldən verə bilər</a:t>
            </a:r>
            <a:r>
              <a:rPr lang="az-Latn-AZ" dirty="0">
                <a:effectLst/>
              </a:rPr>
              <a:t>.</a:t>
            </a:r>
          </a:p>
          <a:p>
            <a:r>
              <a:rPr lang="az-Latn-AZ" dirty="0">
                <a:effectLst/>
              </a:rPr>
              <a:t>• </a:t>
            </a:r>
            <a:r>
              <a:rPr lang="az-Latn-AZ" b="1" dirty="0">
                <a:effectLst/>
              </a:rPr>
              <a:t>İşləmə prinsipləri:</a:t>
            </a:r>
            <a:endParaRPr lang="az-Latn-AZ" dirty="0">
              <a:effectLst/>
            </a:endParaRPr>
          </a:p>
          <a:p>
            <a:r>
              <a:rPr lang="az-Latn-AZ" dirty="0">
                <a:effectLst/>
              </a:rPr>
              <a:t>    ◦ Verilənlər dəsti </a:t>
            </a:r>
            <a:r>
              <a:rPr lang="az-Latn-AZ" b="1" dirty="0">
                <a:effectLst/>
              </a:rPr>
              <a:t>balanslaşdırılmış siniflərə malik olduqda</a:t>
            </a:r>
            <a:r>
              <a:rPr lang="az-Latn-AZ" dirty="0">
                <a:effectLst/>
              </a:rPr>
              <a:t> (məsələn, 50% müsbət, 50% mənfi) </a:t>
            </a:r>
            <a:r>
              <a:rPr lang="az-Latn-AZ" b="1" dirty="0">
                <a:effectLst/>
              </a:rPr>
              <a:t>yaxşı işləyir</a:t>
            </a:r>
            <a:r>
              <a:rPr lang="az-Latn-AZ" dirty="0">
                <a:effectLst/>
              </a:rPr>
              <a:t>.</a:t>
            </a:r>
          </a:p>
          <a:p>
            <a:r>
              <a:rPr lang="az-Latn-AZ" dirty="0">
                <a:effectLst/>
              </a:rPr>
              <a:t>    ◦ Bir sinfin digərinə üstünlük təşkil etdiyi </a:t>
            </a:r>
            <a:r>
              <a:rPr lang="az-Latn-AZ" b="1" dirty="0">
                <a:effectLst/>
              </a:rPr>
              <a:t>qeyri-balanslaşdırılmış verilənlər dəstləri üçün etibarlı deyil</a:t>
            </a:r>
            <a:r>
              <a:rPr lang="az-Latn-AZ" dirty="0">
                <a:effectLst/>
              </a:rPr>
              <a:t>.</a:t>
            </a:r>
          </a:p>
          <a:p>
            <a:r>
              <a:rPr lang="az-Latn-AZ" dirty="0">
                <a:effectLst/>
              </a:rPr>
              <a:t>Kontekst (Səhv Matrisi və Digər Metrikalar)</a:t>
            </a:r>
          </a:p>
          <a:p>
            <a:r>
              <a:rPr lang="az-Latn-AZ" dirty="0">
                <a:effectLst/>
              </a:rPr>
              <a:t>Dəqiqlik, </a:t>
            </a:r>
            <a:r>
              <a:rPr lang="az-Latn-AZ" b="1" dirty="0">
                <a:effectLst/>
              </a:rPr>
              <a:t>Səhv Matrisi (Confusion Matrix)</a:t>
            </a:r>
            <a:r>
              <a:rPr lang="az-Latn-AZ" dirty="0">
                <a:effectLst/>
              </a:rPr>
              <a:t> tərəfindən müəyyən edilən dörd əsas nəticəyə (Həqiqi Müsbət/Mənfi, Yalançı Müsbət/Mənfi) əsaslanan performans metrikalarından biridir.</a:t>
            </a:r>
          </a:p>
          <a:p>
            <a:r>
              <a:rPr lang="az-Latn-AZ" dirty="0">
                <a:effectLst/>
              </a:rPr>
              <a:t>Qeyri-balanslaşdırılmış verilənlər dəstləri ilə işləyərkən, dəqiqliyin çatışmazlıqlarını aradan qaldırmaq üçün tez-tez </a:t>
            </a:r>
            <a:r>
              <a:rPr lang="az-Latn-AZ" b="1" dirty="0">
                <a:effectLst/>
              </a:rPr>
              <a:t>F1 Score</a:t>
            </a:r>
            <a:r>
              <a:rPr lang="az-Latn-AZ" dirty="0">
                <a:effectLst/>
              </a:rPr>
              <a:t>-dan, həmçinin </a:t>
            </a:r>
            <a:r>
              <a:rPr lang="az-Latn-AZ" b="1" dirty="0">
                <a:effectLst/>
              </a:rPr>
              <a:t>Precision</a:t>
            </a:r>
            <a:r>
              <a:rPr lang="az-Latn-AZ" dirty="0">
                <a:effectLst/>
              </a:rPr>
              <a:t> (Yalançı Müsbətləri minimuma endirmək üçün vacibdir) və </a:t>
            </a:r>
            <a:r>
              <a:rPr lang="az-Latn-AZ" b="1" dirty="0">
                <a:effectLst/>
              </a:rPr>
              <a:t>Recall</a:t>
            </a:r>
            <a:r>
              <a:rPr lang="az-Latn-AZ" dirty="0">
                <a:effectLst/>
              </a:rPr>
              <a:t> (Yalançı Mənfiləri minimuma endirmək üçün vacibdir) kimi digər metrikalardan istifadə olunur.</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13</a:t>
            </a:fld>
            <a:endParaRPr lang="az-Latn-AZ"/>
          </a:p>
        </p:txBody>
      </p:sp>
    </p:spTree>
    <p:extLst>
      <p:ext uri="{BB962C8B-B14F-4D97-AF65-F5344CB8AC3E}">
        <p14:creationId xmlns:p14="http://schemas.microsoft.com/office/powerpoint/2010/main" val="4096058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b="1" dirty="0">
                <a:effectLst/>
              </a:rPr>
              <a:t>Dəqiqlik (Precision)</a:t>
            </a:r>
            <a:r>
              <a:rPr lang="az-Latn-AZ" dirty="0">
                <a:effectLst/>
              </a:rPr>
              <a:t> modelin </a:t>
            </a:r>
            <a:r>
              <a:rPr lang="az-Latn-AZ" b="1" dirty="0">
                <a:effectLst/>
              </a:rPr>
              <a:t>müsbət proqnozlarının keyfiyyətinə diqqət yetirir</a:t>
            </a:r>
            <a:r>
              <a:rPr lang="az-Latn-AZ" dirty="0">
                <a:effectLst/>
              </a:rPr>
              <a:t>. O, </a:t>
            </a:r>
            <a:r>
              <a:rPr lang="az-Latn-AZ" b="1" dirty="0">
                <a:effectLst/>
              </a:rPr>
              <a:t>müsbət olaraq proqnozlaşdırılan nümunələrdən neçəsinin həqiqətən müsbət olduğunu</a:t>
            </a:r>
            <a:r>
              <a:rPr lang="az-Latn-AZ" dirty="0">
                <a:effectLst/>
              </a:rPr>
              <a:t> göstərir.</a:t>
            </a:r>
          </a:p>
          <a:p>
            <a:r>
              <a:rPr lang="az-Latn-AZ" dirty="0">
                <a:effectLst/>
              </a:rPr>
              <a:t>• </a:t>
            </a:r>
            <a:r>
              <a:rPr lang="az-Latn-AZ" b="1" dirty="0">
                <a:effectLst/>
              </a:rPr>
              <a:t>Əhəmiyyəti:</a:t>
            </a:r>
            <a:r>
              <a:rPr lang="az-Latn-AZ" dirty="0">
                <a:effectLst/>
              </a:rPr>
              <a:t> Dəqiqlik, </a:t>
            </a:r>
            <a:r>
              <a:rPr lang="az-Latn-AZ" b="1" dirty="0">
                <a:effectLst/>
              </a:rPr>
              <a:t>yalançı müsbətlərin (False Positives - FP) minimuma endirilməsinin</a:t>
            </a:r>
            <a:r>
              <a:rPr lang="az-Latn-AZ" dirty="0">
                <a:effectLst/>
              </a:rPr>
              <a:t> vacib olduğu və bahalı olduğu vəziyyətlərdə mühümdür.</a:t>
            </a:r>
          </a:p>
          <a:p>
            <a:r>
              <a:rPr lang="az-Latn-AZ" dirty="0">
                <a:effectLst/>
              </a:rPr>
              <a:t>• </a:t>
            </a:r>
            <a:r>
              <a:rPr lang="az-Latn-AZ" b="1" dirty="0">
                <a:effectLst/>
              </a:rPr>
              <a:t>Tətbiq sahələri:</a:t>
            </a:r>
            <a:r>
              <a:rPr lang="az-Latn-AZ" dirty="0">
                <a:effectLst/>
              </a:rPr>
              <a:t> Bu cür ssenarilərə </a:t>
            </a:r>
            <a:r>
              <a:rPr lang="az-Latn-AZ" b="1" dirty="0">
                <a:effectLst/>
              </a:rPr>
              <a:t>spam e-poçtlarının aşkarlanması</a:t>
            </a:r>
            <a:r>
              <a:rPr lang="az-Latn-AZ" dirty="0">
                <a:effectLst/>
              </a:rPr>
              <a:t>, </a:t>
            </a:r>
            <a:r>
              <a:rPr lang="az-Latn-AZ" b="1" dirty="0">
                <a:effectLst/>
              </a:rPr>
              <a:t>fırıldaqçılıq aşkarlanması</a:t>
            </a:r>
            <a:r>
              <a:rPr lang="az-Latn-AZ" dirty="0">
                <a:effectLst/>
              </a:rPr>
              <a:t> (fraud detection) və </a:t>
            </a:r>
            <a:r>
              <a:rPr lang="az-Latn-AZ" b="1" dirty="0">
                <a:effectLst/>
              </a:rPr>
              <a:t>tibbi diaqnozlar</a:t>
            </a:r>
            <a:r>
              <a:rPr lang="az-Latn-AZ" dirty="0">
                <a:effectLst/>
              </a:rPr>
              <a:t> daxildir.</a:t>
            </a:r>
          </a:p>
          <a:p>
            <a:r>
              <a:rPr lang="az-Latn-AZ" dirty="0">
                <a:effectLst/>
              </a:rPr>
              <a:t>• </a:t>
            </a:r>
            <a:r>
              <a:rPr lang="az-Latn-AZ" b="1" dirty="0">
                <a:effectLst/>
              </a:rPr>
              <a:t>Nəticə:</a:t>
            </a:r>
            <a:r>
              <a:rPr lang="az-Latn-AZ" dirty="0">
                <a:effectLst/>
              </a:rPr>
              <a:t> </a:t>
            </a:r>
            <a:r>
              <a:rPr lang="az-Latn-AZ" b="1" dirty="0">
                <a:effectLst/>
              </a:rPr>
              <a:t>Yüksək dəqiqlik o deməkdir ki, müsbət proqnozların əksəriyyəti həqiqətən müsbətdir</a:t>
            </a:r>
            <a:r>
              <a:rPr lang="az-Latn-AZ" dirty="0">
                <a:effectLst/>
              </a:rPr>
              <a:t>.</a:t>
            </a:r>
          </a:p>
          <a:p>
            <a:br>
              <a:rPr lang="az-Latn-AZ" dirty="0"/>
            </a:br>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14</a:t>
            </a:fld>
            <a:endParaRPr lang="az-Latn-AZ"/>
          </a:p>
        </p:txBody>
      </p:sp>
    </p:spTree>
    <p:extLst>
      <p:ext uri="{BB962C8B-B14F-4D97-AF65-F5344CB8AC3E}">
        <p14:creationId xmlns:p14="http://schemas.microsoft.com/office/powerpoint/2010/main" val="453869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b="1" dirty="0">
                <a:effectLst/>
              </a:rPr>
              <a:t>Həssaslıq (Recall)</a:t>
            </a:r>
            <a:r>
              <a:rPr lang="az-Latn-AZ" dirty="0">
                <a:effectLst/>
              </a:rPr>
              <a:t> modelin </a:t>
            </a:r>
            <a:r>
              <a:rPr lang="az-Latn-AZ" b="1" dirty="0">
                <a:effectLst/>
              </a:rPr>
              <a:t>bütün faktiki müsbət halları (actual positive cases) nə qədər yaxşı müəyyən etdiyini ölçür</a:t>
            </a:r>
            <a:r>
              <a:rPr lang="az-Latn-AZ" dirty="0">
                <a:effectLst/>
              </a:rPr>
              <a:t>. O, </a:t>
            </a:r>
            <a:r>
              <a:rPr lang="az-Latn-AZ" b="1" dirty="0">
                <a:effectLst/>
              </a:rPr>
              <a:t>bütün faktiki müsbət nümunələr içərisində aşkarlanan həqiqi müsbətlərin (true positives) nisbətini göstərir</a:t>
            </a:r>
            <a:r>
              <a:rPr lang="az-Latn-AZ" dirty="0">
                <a:effectLst/>
              </a:rPr>
              <a:t>.</a:t>
            </a:r>
          </a:p>
          <a:p>
            <a:r>
              <a:rPr lang="az-Latn-AZ" dirty="0">
                <a:effectLst/>
              </a:rPr>
              <a:t>• </a:t>
            </a:r>
            <a:r>
              <a:rPr lang="az-Latn-AZ" b="1" dirty="0">
                <a:effectLst/>
              </a:rPr>
              <a:t>Əhəmiyyəti:</a:t>
            </a:r>
            <a:r>
              <a:rPr lang="az-Latn-AZ" dirty="0">
                <a:effectLst/>
              </a:rPr>
              <a:t> </a:t>
            </a:r>
            <a:r>
              <a:rPr lang="az-Latn-AZ" b="1" dirty="0">
                <a:effectLst/>
              </a:rPr>
              <a:t>Müsbət halların qaçırılmasının ciddi nəticələrə səbəb olduğu hallarda yüksək həssaslıq vacibdir</a:t>
            </a:r>
            <a:r>
              <a:rPr lang="az-Latn-AZ" dirty="0">
                <a:effectLst/>
              </a:rPr>
              <a:t>, məsələn, </a:t>
            </a:r>
            <a:r>
              <a:rPr lang="az-Latn-AZ" b="1" dirty="0">
                <a:effectLst/>
              </a:rPr>
              <a:t>tibbi diaqnozlarda</a:t>
            </a:r>
            <a:r>
              <a:rPr lang="az-Latn-AZ" dirty="0">
                <a:effectLst/>
              </a:rPr>
              <a:t>.</a:t>
            </a:r>
          </a:p>
          <a:p>
            <a:r>
              <a:rPr lang="az-Latn-AZ" dirty="0">
                <a:effectLst/>
              </a:rPr>
              <a:t>• </a:t>
            </a:r>
            <a:r>
              <a:rPr lang="az-Latn-AZ" b="1" dirty="0">
                <a:effectLst/>
              </a:rPr>
              <a:t>Kritik ssenarilər:</a:t>
            </a:r>
            <a:r>
              <a:rPr lang="az-Latn-AZ" dirty="0">
                <a:effectLst/>
              </a:rPr>
              <a:t> Bu metrika </a:t>
            </a:r>
            <a:r>
              <a:rPr lang="az-Latn-AZ" b="1" dirty="0">
                <a:effectLst/>
              </a:rPr>
              <a:t>müsbət halların qaçırılmasının kritik olduğu ssenarilərdə mühümdür</a:t>
            </a:r>
            <a:r>
              <a:rPr lang="az-Latn-AZ" dirty="0">
                <a:effectLst/>
              </a:rPr>
              <a:t> (məsələn, </a:t>
            </a:r>
            <a:r>
              <a:rPr lang="az-Latn-AZ" b="1" dirty="0">
                <a:effectLst/>
              </a:rPr>
              <a:t>xəstəliklərin aşkarlanması</a:t>
            </a:r>
            <a:r>
              <a:rPr lang="az-Latn-AZ" dirty="0">
                <a:effectLst/>
              </a:rPr>
              <a:t>, </a:t>
            </a:r>
            <a:r>
              <a:rPr lang="az-Latn-AZ" b="1" dirty="0">
                <a:effectLst/>
              </a:rPr>
              <a:t>fırıldaqçılığın aşkarlanması</a:t>
            </a:r>
            <a:r>
              <a:rPr lang="az-Latn-AZ" dirty="0">
                <a:effectLst/>
              </a:rPr>
              <a:t>, </a:t>
            </a:r>
            <a:r>
              <a:rPr lang="az-Latn-AZ" b="1" dirty="0">
                <a:effectLst/>
              </a:rPr>
              <a:t>təhlükəsizlik həyəcan siqnalları</a:t>
            </a:r>
            <a:r>
              <a:rPr lang="az-Latn-AZ" dirty="0">
                <a:effectLst/>
              </a:rPr>
              <a:t>).</a:t>
            </a:r>
          </a:p>
          <a:p>
            <a:r>
              <a:rPr lang="az-Latn-AZ" dirty="0">
                <a:effectLst/>
              </a:rPr>
              <a:t>• </a:t>
            </a:r>
            <a:r>
              <a:rPr lang="az-Latn-AZ" b="1" dirty="0">
                <a:effectLst/>
              </a:rPr>
              <a:t>Nəticə:</a:t>
            </a:r>
            <a:r>
              <a:rPr lang="az-Latn-AZ" dirty="0">
                <a:effectLst/>
              </a:rPr>
              <a:t> </a:t>
            </a:r>
            <a:r>
              <a:rPr lang="az-Latn-AZ" b="1" dirty="0">
                <a:effectLst/>
              </a:rPr>
              <a:t>Yüksək həssaslıq əksər faktiki müsbət halların tutulmasını təmin edir</a:t>
            </a:r>
            <a:r>
              <a:rPr lang="az-Latn-AZ" dirty="0">
                <a:effectLst/>
              </a:rPr>
              <a:t>.</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15</a:t>
            </a:fld>
            <a:endParaRPr lang="az-Latn-AZ"/>
          </a:p>
        </p:txBody>
      </p:sp>
    </p:spTree>
    <p:extLst>
      <p:ext uri="{BB962C8B-B14F-4D97-AF65-F5344CB8AC3E}">
        <p14:creationId xmlns:p14="http://schemas.microsoft.com/office/powerpoint/2010/main" val="2521817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dirty="0">
                <a:effectLst/>
              </a:rPr>
              <a:t>F1 Skoru (F1 Score)</a:t>
            </a:r>
          </a:p>
          <a:p>
            <a:r>
              <a:rPr lang="az-Latn-AZ" b="1" dirty="0">
                <a:effectLst/>
              </a:rPr>
              <a:t>F1-skoru, Precision (Dəqiqlik) və Recall (Həssaslıq) metrikalarını tək bir metrikada birləşdirir ki, onların kompromisini balanslaşdırsın</a:t>
            </a:r>
            <a:r>
              <a:rPr lang="az-Latn-AZ" dirty="0">
                <a:effectLst/>
              </a:rPr>
              <a:t>. O, </a:t>
            </a:r>
            <a:r>
              <a:rPr lang="az-Latn-AZ" b="1" dirty="0">
                <a:effectLst/>
              </a:rPr>
              <a:t>modelin ümumi performansına dair daha yaxşı fikir verir</a:t>
            </a:r>
            <a:r>
              <a:rPr lang="az-Latn-AZ" dirty="0">
                <a:effectLst/>
              </a:rPr>
              <a:t>, xüsusilə də </a:t>
            </a:r>
            <a:r>
              <a:rPr lang="az-Latn-AZ" b="1" dirty="0">
                <a:effectLst/>
              </a:rPr>
              <a:t>qeyri-balanslaşdırılmış verilənlər dəstləri (imbalanced datasets) üçün</a:t>
            </a:r>
            <a:r>
              <a:rPr lang="az-Latn-AZ" dirty="0">
                <a:effectLst/>
              </a:rPr>
              <a:t>. </a:t>
            </a:r>
            <a:r>
              <a:rPr lang="az-Latn-AZ" b="1" dirty="0">
                <a:effectLst/>
              </a:rPr>
              <a:t>F1 skoru həm yalançı müsbətlərin (false positives), həm də yalançı mənfilərin (false negatives) vacib olduğu hallarda faydalıdır</a:t>
            </a:r>
            <a:r>
              <a:rPr lang="az-Latn-AZ" dirty="0">
                <a:effectLst/>
              </a:rPr>
              <a:t>, baxmayaraq ki, o, </a:t>
            </a:r>
            <a:r>
              <a:rPr lang="az-Latn-AZ" b="1" dirty="0">
                <a:effectLst/>
              </a:rPr>
              <a:t>Precision və Recall-un bərabər dərəcədə əhəmiyyətli olduğunu</a:t>
            </a:r>
            <a:r>
              <a:rPr lang="az-Latn-AZ" dirty="0">
                <a:effectLst/>
              </a:rPr>
              <a:t> qəbul edir, bu isə tətbiq ssenarisi ilə hər zaman uyğun gəlməyə bilər.</a:t>
            </a:r>
          </a:p>
          <a:p>
            <a:r>
              <a:rPr lang="az-Latn-AZ" dirty="0">
                <a:effectLst/>
              </a:rPr>
              <a:t>• </a:t>
            </a:r>
            <a:r>
              <a:rPr lang="az-Latn-AZ" b="1" dirty="0">
                <a:effectLst/>
              </a:rPr>
              <a:t>Uyğundur:</a:t>
            </a:r>
            <a:r>
              <a:rPr lang="az-Latn-AZ" dirty="0">
                <a:effectLst/>
              </a:rPr>
              <a:t> Dəqiqliyin (Accuracy) yanıltıcı olduğu </a:t>
            </a:r>
            <a:r>
              <a:rPr lang="az-Latn-AZ" b="1" dirty="0">
                <a:effectLst/>
              </a:rPr>
              <a:t>qeyri-balanslaşdırılmış verilənlər dəstləri</a:t>
            </a:r>
            <a:r>
              <a:rPr lang="az-Latn-AZ" dirty="0">
                <a:effectLst/>
              </a:rPr>
              <a:t> ilə işləyərkən əlverişlidir.</a:t>
            </a:r>
          </a:p>
          <a:p>
            <a:r>
              <a:rPr lang="az-Latn-AZ" dirty="0">
                <a:effectLst/>
              </a:rPr>
              <a:t>• </a:t>
            </a:r>
            <a:r>
              <a:rPr lang="az-Latn-AZ" b="1" dirty="0">
                <a:effectLst/>
              </a:rPr>
              <a:t>Məqsəd:</a:t>
            </a:r>
            <a:r>
              <a:rPr lang="az-Latn-AZ" dirty="0">
                <a:effectLst/>
              </a:rPr>
              <a:t> </a:t>
            </a:r>
            <a:r>
              <a:rPr lang="az-Latn-AZ" b="1" dirty="0">
                <a:effectLst/>
              </a:rPr>
              <a:t>Precision və Recall arasında balansın lazım olduğu hallarda kömək edir</a:t>
            </a:r>
            <a:r>
              <a:rPr lang="az-Latn-AZ" dirty="0">
                <a:effectLst/>
              </a:rPr>
              <a:t>.</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16</a:t>
            </a:fld>
            <a:endParaRPr lang="az-Latn-AZ"/>
          </a:p>
        </p:txBody>
      </p:sp>
    </p:spTree>
    <p:extLst>
      <p:ext uri="{BB962C8B-B14F-4D97-AF65-F5344CB8AC3E}">
        <p14:creationId xmlns:p14="http://schemas.microsoft.com/office/powerpoint/2010/main" val="3381987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z-Latn-AZ" dirty="0">
                <a:effectLst/>
              </a:rPr>
              <a:t>• </a:t>
            </a:r>
            <a:r>
              <a:rPr lang="az-Latn-AZ" b="1" dirty="0">
                <a:effectLst/>
              </a:rPr>
              <a:t>ROC Əyrisi</a:t>
            </a:r>
            <a:r>
              <a:rPr lang="az-Latn-AZ" dirty="0">
                <a:effectLst/>
              </a:rPr>
              <a:t> müxtəlif </a:t>
            </a:r>
            <a:r>
              <a:rPr lang="az-Latn-AZ" b="1" dirty="0">
                <a:effectLst/>
              </a:rPr>
              <a:t>hədd dəyərlərində (thresholds)</a:t>
            </a:r>
            <a:r>
              <a:rPr lang="az-Latn-AZ" dirty="0">
                <a:effectLst/>
              </a:rPr>
              <a:t> </a:t>
            </a:r>
            <a:r>
              <a:rPr lang="az-Latn-AZ" b="1" dirty="0">
                <a:effectLst/>
              </a:rPr>
              <a:t>Həqiqi Müsbət Nisbəti (True Positive Rate - TPR)</a:t>
            </a:r>
            <a:r>
              <a:rPr lang="az-Latn-AZ" dirty="0">
                <a:effectLst/>
              </a:rPr>
              <a:t> ilə </a:t>
            </a:r>
            <a:r>
              <a:rPr lang="az-Latn-AZ" b="1" dirty="0">
                <a:effectLst/>
              </a:rPr>
              <a:t>Yalançı Müsbət Nisbətini (False Positive Rate - FPR)</a:t>
            </a:r>
            <a:r>
              <a:rPr lang="az-Latn-AZ" dirty="0">
                <a:effectLst/>
              </a:rPr>
              <a:t> qrafikdə əks etdirir.</a:t>
            </a:r>
          </a:p>
          <a:p>
            <a:r>
              <a:rPr lang="az-Latn-AZ" dirty="0">
                <a:effectLst/>
              </a:rPr>
              <a:t>• O, bir təsnifatçının </a:t>
            </a:r>
            <a:r>
              <a:rPr lang="az-Latn-AZ" b="1" dirty="0">
                <a:effectLst/>
              </a:rPr>
              <a:t>həssaslığı (sensitivity - Recall)</a:t>
            </a:r>
            <a:r>
              <a:rPr lang="az-Latn-AZ" dirty="0">
                <a:effectLst/>
              </a:rPr>
              <a:t> və </a:t>
            </a:r>
            <a:r>
              <a:rPr lang="az-Latn-AZ" b="1" dirty="0">
                <a:effectLst/>
              </a:rPr>
              <a:t>spesifikliyi (specificity)</a:t>
            </a:r>
            <a:r>
              <a:rPr lang="az-Latn-AZ" dirty="0">
                <a:effectLst/>
              </a:rPr>
              <a:t> arasındakı </a:t>
            </a:r>
            <a:r>
              <a:rPr lang="az-Latn-AZ" b="1" dirty="0">
                <a:effectLst/>
              </a:rPr>
              <a:t>kompromisi</a:t>
            </a:r>
            <a:r>
              <a:rPr lang="az-Latn-AZ" dirty="0">
                <a:effectLst/>
              </a:rPr>
              <a:t> (trade-off) təmsil edir.</a:t>
            </a:r>
          </a:p>
          <a:p>
            <a:r>
              <a:rPr lang="az-Latn-AZ" dirty="0">
                <a:effectLst/>
              </a:rPr>
              <a:t>AUC (Area Under the Curve - Əyri Altındakı Sahə)</a:t>
            </a:r>
          </a:p>
          <a:p>
            <a:r>
              <a:rPr lang="az-Latn-AZ" dirty="0">
                <a:effectLst/>
              </a:rPr>
              <a:t>• </a:t>
            </a:r>
            <a:r>
              <a:rPr lang="az-Latn-AZ" b="1" dirty="0">
                <a:effectLst/>
              </a:rPr>
              <a:t>AUC</a:t>
            </a:r>
            <a:r>
              <a:rPr lang="az-Latn-AZ" dirty="0">
                <a:effectLst/>
              </a:rPr>
              <a:t> </a:t>
            </a:r>
            <a:r>
              <a:rPr lang="az-Latn-AZ" b="1" dirty="0">
                <a:effectLst/>
              </a:rPr>
              <a:t>ROC əyrisi altındakı sahəni ölçür</a:t>
            </a:r>
            <a:r>
              <a:rPr lang="az-Latn-AZ" dirty="0">
                <a:effectLst/>
              </a:rPr>
              <a:t>.</a:t>
            </a:r>
          </a:p>
          <a:p>
            <a:r>
              <a:rPr lang="az-Latn-AZ" dirty="0">
                <a:effectLst/>
              </a:rPr>
              <a:t>• </a:t>
            </a:r>
            <a:r>
              <a:rPr lang="az-Latn-AZ" b="1" dirty="0">
                <a:effectLst/>
              </a:rPr>
              <a:t>Daha yüksək AUC dəyəri daha yaxşı model performansını göstərir</a:t>
            </a:r>
            <a:r>
              <a:rPr lang="az-Latn-AZ" dirty="0">
                <a:effectLst/>
              </a:rPr>
              <a:t>, çünki bu, modelin </a:t>
            </a:r>
            <a:r>
              <a:rPr lang="az-Latn-AZ" b="1" dirty="0">
                <a:effectLst/>
              </a:rPr>
              <a:t>siniflər arasında fərq qoymaq (distinguish between classes)</a:t>
            </a:r>
            <a:r>
              <a:rPr lang="az-Latn-AZ" dirty="0">
                <a:effectLst/>
              </a:rPr>
              <a:t> üçün daha böyük qabiliyyətə malik olduğunu deməyə əsas verir.</a:t>
            </a:r>
          </a:p>
          <a:p>
            <a:r>
              <a:rPr lang="az-Latn-AZ">
                <a:effectLst/>
              </a:rPr>
              <a:t>• </a:t>
            </a:r>
            <a:r>
              <a:rPr lang="az-Latn-AZ" b="1">
                <a:effectLst/>
              </a:rPr>
              <a:t>1.0 AUC dəyəri</a:t>
            </a:r>
            <a:r>
              <a:rPr lang="az-Latn-AZ">
                <a:effectLst/>
              </a:rPr>
              <a:t> </a:t>
            </a:r>
            <a:r>
              <a:rPr lang="az-Latn-AZ" b="1">
                <a:effectLst/>
              </a:rPr>
              <a:t>ideal performansı</a:t>
            </a:r>
            <a:r>
              <a:rPr lang="az-Latn-AZ">
                <a:effectLst/>
              </a:rPr>
              <a:t> göstərir, halbuki </a:t>
            </a:r>
            <a:r>
              <a:rPr lang="az-Latn-AZ" b="1">
                <a:effectLst/>
              </a:rPr>
              <a:t>0.5 dəyəri</a:t>
            </a:r>
            <a:r>
              <a:rPr lang="az-Latn-AZ">
                <a:effectLst/>
              </a:rPr>
              <a:t> təsadüfi təxmin etmə (random guessing) olduğunu göstərir.</a:t>
            </a:r>
          </a:p>
          <a:p>
            <a:endParaRPr lang="az-Latn-AZ" dirty="0"/>
          </a:p>
        </p:txBody>
      </p:sp>
      <p:sp>
        <p:nvSpPr>
          <p:cNvPr id="4" name="Slide Number Placeholder 3"/>
          <p:cNvSpPr>
            <a:spLocks noGrp="1"/>
          </p:cNvSpPr>
          <p:nvPr>
            <p:ph type="sldNum" sz="quarter" idx="5"/>
          </p:nvPr>
        </p:nvSpPr>
        <p:spPr/>
        <p:txBody>
          <a:bodyPr/>
          <a:lstStyle/>
          <a:p>
            <a:fld id="{6771190C-00E5-4182-B519-6CE8EF0DED16}" type="slidenum">
              <a:rPr lang="az-Latn-AZ" smtClean="0"/>
              <a:t>17</a:t>
            </a:fld>
            <a:endParaRPr lang="az-Latn-AZ"/>
          </a:p>
        </p:txBody>
      </p:sp>
    </p:spTree>
    <p:extLst>
      <p:ext uri="{BB962C8B-B14F-4D97-AF65-F5344CB8AC3E}">
        <p14:creationId xmlns:p14="http://schemas.microsoft.com/office/powerpoint/2010/main" val="774896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AAB0-0FC7-84EC-BB74-801446EA3C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2FAE65-E1C0-0C95-0F3D-A217BB94F2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F76355-A8DB-115E-6480-CDB2FF0427B0}"/>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5" name="Footer Placeholder 4">
            <a:extLst>
              <a:ext uri="{FF2B5EF4-FFF2-40B4-BE49-F238E27FC236}">
                <a16:creationId xmlns:a16="http://schemas.microsoft.com/office/drawing/2014/main" id="{E7FF469A-B475-CFC9-8D3B-2D5F864EA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B574B0-EE86-9068-F975-B7B6EF41AB43}"/>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4181791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02FA9-EE93-79AE-AF64-CBC957CEE0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335DEF-D483-B000-BDAE-B0DC7CA2C5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35BC78-8D8E-2682-7B6A-619434DA9470}"/>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5" name="Footer Placeholder 4">
            <a:extLst>
              <a:ext uri="{FF2B5EF4-FFF2-40B4-BE49-F238E27FC236}">
                <a16:creationId xmlns:a16="http://schemas.microsoft.com/office/drawing/2014/main" id="{5E7E94A0-BCE6-63BA-CEB1-42E6F4959B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CC155B-F886-ADB1-CFCB-24407F36B4EC}"/>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34684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65520-673C-255C-E229-943BDD0CC3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96C9DB-1AC0-BD59-C442-7308F365AF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56026A-3D2F-D43D-EA88-CEEA47B099E8}"/>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5" name="Footer Placeholder 4">
            <a:extLst>
              <a:ext uri="{FF2B5EF4-FFF2-40B4-BE49-F238E27FC236}">
                <a16:creationId xmlns:a16="http://schemas.microsoft.com/office/drawing/2014/main" id="{A9557995-4D4E-7DA0-151A-4A4A4D18F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33D84-D335-2F60-93FD-F370A8F0E083}"/>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2045863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B7BF-B1BA-60F9-FD94-B0133AD02E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B59C17-6A62-D99F-742D-F792F77DF5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51336E-F815-61CD-DADC-3B73E6A924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FB8A80-81CF-9523-CB58-3891A315C6CE}"/>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6" name="Footer Placeholder 5">
            <a:extLst>
              <a:ext uri="{FF2B5EF4-FFF2-40B4-BE49-F238E27FC236}">
                <a16:creationId xmlns:a16="http://schemas.microsoft.com/office/drawing/2014/main" id="{AFCEBFB4-C820-BC6C-A2EA-3340389B80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E6B1C9-44D7-E323-A7D6-373DDEBE1085}"/>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223439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B8AAA-5FB1-77B5-5308-AC0112EC7A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C9A88A-45E2-1A95-3EFA-C88DCFBE95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DB924A-198B-F12A-6332-D4D0AE50A7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9E8F1F-FFAB-0623-681C-1C055934A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50E65A-7B5C-28DB-14C0-B412B3F459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DFD283-BB4D-58D3-0DC4-0349F06B6E34}"/>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8" name="Footer Placeholder 7">
            <a:extLst>
              <a:ext uri="{FF2B5EF4-FFF2-40B4-BE49-F238E27FC236}">
                <a16:creationId xmlns:a16="http://schemas.microsoft.com/office/drawing/2014/main" id="{9B05DB67-61B6-90D0-F525-2F0AB593F3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723A6C-AEE5-F6D9-F2AD-45E83A99A85A}"/>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1024911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85BB7-E22F-6709-A267-1C627BE6BF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7EB6A0-4361-9FD3-6311-DE410874230E}"/>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4" name="Footer Placeholder 3">
            <a:extLst>
              <a:ext uri="{FF2B5EF4-FFF2-40B4-BE49-F238E27FC236}">
                <a16:creationId xmlns:a16="http://schemas.microsoft.com/office/drawing/2014/main" id="{52820CE2-1961-A9C3-6C7A-ACE8CFC39D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2EC667-C325-0877-E783-A46C31A4ECC9}"/>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3109966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7C10E3-1733-BBD4-0F68-19A7AADE9984}"/>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3" name="Footer Placeholder 2">
            <a:extLst>
              <a:ext uri="{FF2B5EF4-FFF2-40B4-BE49-F238E27FC236}">
                <a16:creationId xmlns:a16="http://schemas.microsoft.com/office/drawing/2014/main" id="{8CD0ECE8-9C99-5658-2D05-CA436A30F5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422628-DE78-33C1-CC07-E503734410B6}"/>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810288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6721D-9E0C-0909-6456-E7C2B8CB89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BBD871-14D5-9C00-A9F0-576B43A871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F353FC-C839-1F62-80B4-D6EA7DFF72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DB1178-FE6D-0FD6-4C7E-389D55201B4A}"/>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6" name="Footer Placeholder 5">
            <a:extLst>
              <a:ext uri="{FF2B5EF4-FFF2-40B4-BE49-F238E27FC236}">
                <a16:creationId xmlns:a16="http://schemas.microsoft.com/office/drawing/2014/main" id="{5D94CCA5-994F-7919-F0E7-3809A8268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AFAE40-3C34-9A49-623B-F416A07DFCBF}"/>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157972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F227-5E56-3EFA-1B12-1175EF4285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FE5776-0EE6-F6E4-1417-B7952C80C8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709449-A1BF-ECA1-4268-2AF5BABF6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9A214-95FC-94B1-AF8C-FEF5B9D97FED}"/>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6" name="Footer Placeholder 5">
            <a:extLst>
              <a:ext uri="{FF2B5EF4-FFF2-40B4-BE49-F238E27FC236}">
                <a16:creationId xmlns:a16="http://schemas.microsoft.com/office/drawing/2014/main" id="{22323683-E30D-6401-F52F-2E16C7B83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7E8B25-A673-2594-7E5C-727EFCDBC6FD}"/>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279004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A18A-8045-B459-D85E-24E83EDFB2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7889BE-AA2A-38C2-93C2-01E6F19873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27088-55D8-172C-2AE3-6445164CE3B3}"/>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5" name="Footer Placeholder 4">
            <a:extLst>
              <a:ext uri="{FF2B5EF4-FFF2-40B4-BE49-F238E27FC236}">
                <a16:creationId xmlns:a16="http://schemas.microsoft.com/office/drawing/2014/main" id="{2E0A4167-6EDC-0907-9C37-89D3626E1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3D119-75E9-CCF8-2253-0CC1F83BC2E0}"/>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3259527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50DC59-2715-C8A2-F17F-A47A79D04A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A6ACDA-D624-25D7-DD8B-27C7038A54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4EF651-93BC-9D51-5818-D05F01E287C8}"/>
              </a:ext>
            </a:extLst>
          </p:cNvPr>
          <p:cNvSpPr>
            <a:spLocks noGrp="1"/>
          </p:cNvSpPr>
          <p:nvPr>
            <p:ph type="dt" sz="half" idx="10"/>
          </p:nvPr>
        </p:nvSpPr>
        <p:spPr/>
        <p:txBody>
          <a:bodyPr/>
          <a:lstStyle/>
          <a:p>
            <a:fld id="{C2C00E70-1F57-4AA6-95EF-6FC704FA57BF}" type="datetimeFigureOut">
              <a:rPr lang="en-US" smtClean="0"/>
              <a:t>10/10/2026</a:t>
            </a:fld>
            <a:endParaRPr lang="en-US"/>
          </a:p>
        </p:txBody>
      </p:sp>
      <p:sp>
        <p:nvSpPr>
          <p:cNvPr id="5" name="Footer Placeholder 4">
            <a:extLst>
              <a:ext uri="{FF2B5EF4-FFF2-40B4-BE49-F238E27FC236}">
                <a16:creationId xmlns:a16="http://schemas.microsoft.com/office/drawing/2014/main" id="{9AE0787A-22AB-EAE3-0BDB-B4F1FC663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146CF-F796-653B-36E8-D57D932CFDBA}"/>
              </a:ext>
            </a:extLst>
          </p:cNvPr>
          <p:cNvSpPr>
            <a:spLocks noGrp="1"/>
          </p:cNvSpPr>
          <p:nvPr>
            <p:ph type="sldNum" sz="quarter" idx="12"/>
          </p:nvPr>
        </p:nvSpPr>
        <p:spPr/>
        <p:txBody>
          <a:bodyPr/>
          <a:lstStyle/>
          <a:p>
            <a:fld id="{79B6C9A2-32D1-49D8-8602-1BE890159130}" type="slidenum">
              <a:rPr lang="en-US" smtClean="0"/>
              <a:t>‹#›</a:t>
            </a:fld>
            <a:endParaRPr lang="en-US"/>
          </a:p>
        </p:txBody>
      </p:sp>
    </p:spTree>
    <p:extLst>
      <p:ext uri="{BB962C8B-B14F-4D97-AF65-F5344CB8AC3E}">
        <p14:creationId xmlns:p14="http://schemas.microsoft.com/office/powerpoint/2010/main" val="4081178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7D3457-E40C-AA28-9A9B-34B5DE3D0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0D53A4-B2B0-3996-07A0-80DEA4DCF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EA588-97AF-99DA-15BA-62548C0B47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C00E70-1F57-4AA6-95EF-6FC704FA57BF}" type="datetimeFigureOut">
              <a:rPr lang="en-US" smtClean="0"/>
              <a:t>10/10/2026</a:t>
            </a:fld>
            <a:endParaRPr lang="en-US"/>
          </a:p>
        </p:txBody>
      </p:sp>
      <p:sp>
        <p:nvSpPr>
          <p:cNvPr id="5" name="Footer Placeholder 4">
            <a:extLst>
              <a:ext uri="{FF2B5EF4-FFF2-40B4-BE49-F238E27FC236}">
                <a16:creationId xmlns:a16="http://schemas.microsoft.com/office/drawing/2014/main" id="{A7EA889E-BCE0-2241-BD26-E2AFD96423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C65E4B-69D4-1B53-7973-645BD1B5FC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B6C9A2-32D1-49D8-8602-1BE890159130}" type="slidenum">
              <a:rPr lang="en-US" smtClean="0"/>
              <a:t>‹#›</a:t>
            </a:fld>
            <a:endParaRPr lang="en-US"/>
          </a:p>
        </p:txBody>
      </p:sp>
    </p:spTree>
    <p:extLst>
      <p:ext uri="{BB962C8B-B14F-4D97-AF65-F5344CB8AC3E}">
        <p14:creationId xmlns:p14="http://schemas.microsoft.com/office/powerpoint/2010/main" val="1685725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4758-33CA-7496-BBC5-6CA14BF2A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0A38F-0B09-B805-AD16-27D09D843C0A}"/>
              </a:ext>
            </a:extLst>
          </p:cNvPr>
          <p:cNvSpPr>
            <a:spLocks noGrp="1"/>
          </p:cNvSpPr>
          <p:nvPr>
            <p:ph type="ctrTitle"/>
          </p:nvPr>
        </p:nvSpPr>
        <p:spPr/>
        <p:txBody>
          <a:bodyPr>
            <a:normAutofit/>
          </a:bodyPr>
          <a:lstStyle/>
          <a:p>
            <a:pPr algn="l"/>
            <a:r>
              <a:rPr lang="en-US" b="0" i="0" dirty="0">
                <a:solidFill>
                  <a:srgbClr val="C00000"/>
                </a:solidFill>
                <a:effectLst/>
                <a:latin typeface="Aptos Display (Headings)"/>
              </a:rPr>
              <a:t>Supervised Learning: Classification</a:t>
            </a:r>
            <a:endParaRPr lang="en-US" dirty="0">
              <a:solidFill>
                <a:srgbClr val="C00000"/>
              </a:solidFill>
              <a:latin typeface="Aptos Display (Headings)"/>
            </a:endParaRPr>
          </a:p>
        </p:txBody>
      </p:sp>
      <p:sp>
        <p:nvSpPr>
          <p:cNvPr id="3" name="Subtitle 2">
            <a:extLst>
              <a:ext uri="{FF2B5EF4-FFF2-40B4-BE49-F238E27FC236}">
                <a16:creationId xmlns:a16="http://schemas.microsoft.com/office/drawing/2014/main" id="{A7CD4582-E712-DB31-D037-800A9A52F069}"/>
              </a:ext>
            </a:extLst>
          </p:cNvPr>
          <p:cNvSpPr>
            <a:spLocks noGrp="1"/>
          </p:cNvSpPr>
          <p:nvPr>
            <p:ph type="subTitle" idx="1"/>
          </p:nvPr>
        </p:nvSpPr>
        <p:spPr/>
        <p:txBody>
          <a:bodyPr>
            <a:normAutofit lnSpcReduction="10000"/>
          </a:bodyPr>
          <a:lstStyle/>
          <a:p>
            <a:endParaRPr lang="en-US" sz="2400" dirty="0"/>
          </a:p>
          <a:p>
            <a:endParaRPr lang="en-US" dirty="0"/>
          </a:p>
          <a:p>
            <a:pPr algn="l"/>
            <a:endParaRPr lang="en-US" sz="2400" dirty="0"/>
          </a:p>
          <a:p>
            <a:pPr algn="l"/>
            <a:r>
              <a:rPr lang="en-US" sz="2400" dirty="0"/>
              <a:t>Instructor: Sabina Mammadova</a:t>
            </a:r>
          </a:p>
          <a:p>
            <a:endParaRPr lang="en-US" dirty="0"/>
          </a:p>
        </p:txBody>
      </p:sp>
    </p:spTree>
    <p:extLst>
      <p:ext uri="{BB962C8B-B14F-4D97-AF65-F5344CB8AC3E}">
        <p14:creationId xmlns:p14="http://schemas.microsoft.com/office/powerpoint/2010/main" val="1394757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AA9470-D464-4993-B7B0-88F3603C868C}"/>
              </a:ext>
            </a:extLst>
          </p:cNvPr>
          <p:cNvSpPr/>
          <p:nvPr/>
        </p:nvSpPr>
        <p:spPr>
          <a:xfrm>
            <a:off x="511277" y="3578944"/>
            <a:ext cx="1759975" cy="1042219"/>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Söhne"/>
              </a:rPr>
              <a:t>Machine Learning</a:t>
            </a:r>
            <a:endParaRPr lang="en-US" sz="2400" dirty="0">
              <a:solidFill>
                <a:schemeClr val="tx1"/>
              </a:solidFill>
            </a:endParaRPr>
          </a:p>
        </p:txBody>
      </p:sp>
      <p:sp>
        <p:nvSpPr>
          <p:cNvPr id="3" name="Rectangle 2">
            <a:extLst>
              <a:ext uri="{FF2B5EF4-FFF2-40B4-BE49-F238E27FC236}">
                <a16:creationId xmlns:a16="http://schemas.microsoft.com/office/drawing/2014/main" id="{2A76C1C3-0146-CA5D-7F1E-A68FBB95783C}"/>
              </a:ext>
            </a:extLst>
          </p:cNvPr>
          <p:cNvSpPr/>
          <p:nvPr/>
        </p:nvSpPr>
        <p:spPr>
          <a:xfrm>
            <a:off x="5751870" y="1235838"/>
            <a:ext cx="1973764" cy="472440"/>
          </a:xfrm>
          <a:prstGeom prst="rect">
            <a:avLst/>
          </a:prstGeom>
          <a:solidFill>
            <a:srgbClr val="E0F6E6"/>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Söhne"/>
              </a:rPr>
              <a:t>Regression</a:t>
            </a:r>
            <a:endParaRPr lang="en-US" sz="1400" dirty="0">
              <a:solidFill>
                <a:schemeClr val="tx1"/>
              </a:solidFill>
            </a:endParaRPr>
          </a:p>
        </p:txBody>
      </p:sp>
      <p:sp>
        <p:nvSpPr>
          <p:cNvPr id="7" name="Rectangle 6">
            <a:extLst>
              <a:ext uri="{FF2B5EF4-FFF2-40B4-BE49-F238E27FC236}">
                <a16:creationId xmlns:a16="http://schemas.microsoft.com/office/drawing/2014/main" id="{BE4B0301-C1DC-1774-73C7-CFC7C4B465A5}"/>
              </a:ext>
            </a:extLst>
          </p:cNvPr>
          <p:cNvSpPr/>
          <p:nvPr/>
        </p:nvSpPr>
        <p:spPr>
          <a:xfrm>
            <a:off x="3197161" y="5846117"/>
            <a:ext cx="1973764" cy="590918"/>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Söhne"/>
              </a:rPr>
              <a:t>Reinforcement Learning</a:t>
            </a:r>
            <a:endParaRPr lang="en-US" dirty="0">
              <a:solidFill>
                <a:schemeClr val="tx1"/>
              </a:solidFill>
            </a:endParaRPr>
          </a:p>
        </p:txBody>
      </p:sp>
      <p:cxnSp>
        <p:nvCxnSpPr>
          <p:cNvPr id="9" name="Connector: Elbow 8">
            <a:extLst>
              <a:ext uri="{FF2B5EF4-FFF2-40B4-BE49-F238E27FC236}">
                <a16:creationId xmlns:a16="http://schemas.microsoft.com/office/drawing/2014/main" id="{14BA0CDC-88CE-4CFD-392B-4F7BCA4B36DE}"/>
              </a:ext>
            </a:extLst>
          </p:cNvPr>
          <p:cNvCxnSpPr>
            <a:cxnSpLocks/>
            <a:stCxn id="2" idx="3"/>
            <a:endCxn id="70" idx="1"/>
          </p:cNvCxnSpPr>
          <p:nvPr/>
        </p:nvCxnSpPr>
        <p:spPr>
          <a:xfrm flipV="1">
            <a:off x="2271252" y="2020181"/>
            <a:ext cx="925909" cy="2079873"/>
          </a:xfrm>
          <a:prstGeom prst="bentConnector3">
            <a:avLst>
              <a:gd name="adj1" fmla="val 50000"/>
            </a:avLst>
          </a:prstGeom>
          <a:ln w="19050" cap="flat" cmpd="sng" algn="ctr">
            <a:solidFill>
              <a:srgbClr val="113B1C"/>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Connector: Elbow 11">
            <a:extLst>
              <a:ext uri="{FF2B5EF4-FFF2-40B4-BE49-F238E27FC236}">
                <a16:creationId xmlns:a16="http://schemas.microsoft.com/office/drawing/2014/main" id="{E0ACC32C-4348-193C-698D-9FF150E048A1}"/>
              </a:ext>
            </a:extLst>
          </p:cNvPr>
          <p:cNvCxnSpPr>
            <a:cxnSpLocks/>
            <a:stCxn id="2" idx="3"/>
            <a:endCxn id="7" idx="1"/>
          </p:cNvCxnSpPr>
          <p:nvPr/>
        </p:nvCxnSpPr>
        <p:spPr>
          <a:xfrm>
            <a:off x="2271252" y="4100054"/>
            <a:ext cx="925909" cy="2041522"/>
          </a:xfrm>
          <a:prstGeom prst="bentConnector3">
            <a:avLst>
              <a:gd name="adj1" fmla="val 50000"/>
            </a:avLst>
          </a:prstGeom>
          <a:ln w="19050" cap="flat" cmpd="sng" algn="ctr">
            <a:solidFill>
              <a:srgbClr val="113B1C"/>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0" name="Rectangle 69">
            <a:extLst>
              <a:ext uri="{FF2B5EF4-FFF2-40B4-BE49-F238E27FC236}">
                <a16:creationId xmlns:a16="http://schemas.microsoft.com/office/drawing/2014/main" id="{F6765ED5-F114-DB28-4D83-AE0380214F30}"/>
              </a:ext>
            </a:extLst>
          </p:cNvPr>
          <p:cNvSpPr/>
          <p:nvPr/>
        </p:nvSpPr>
        <p:spPr>
          <a:xfrm>
            <a:off x="3197161" y="1679989"/>
            <a:ext cx="1973764" cy="680384"/>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Söhne"/>
              </a:rPr>
              <a:t>Supervised Learning</a:t>
            </a:r>
            <a:endParaRPr lang="en-US" dirty="0">
              <a:solidFill>
                <a:schemeClr val="tx1"/>
              </a:solidFill>
            </a:endParaRPr>
          </a:p>
        </p:txBody>
      </p:sp>
      <p:sp>
        <p:nvSpPr>
          <p:cNvPr id="111" name="Rectangle 110">
            <a:extLst>
              <a:ext uri="{FF2B5EF4-FFF2-40B4-BE49-F238E27FC236}">
                <a16:creationId xmlns:a16="http://schemas.microsoft.com/office/drawing/2014/main" id="{6D50D6CF-E333-445C-4CBF-EA3AB9F0A264}"/>
              </a:ext>
            </a:extLst>
          </p:cNvPr>
          <p:cNvSpPr/>
          <p:nvPr/>
        </p:nvSpPr>
        <p:spPr>
          <a:xfrm>
            <a:off x="3197161" y="3804634"/>
            <a:ext cx="1973764" cy="590918"/>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Söhne"/>
              </a:rPr>
              <a:t>Unsupervised Learning</a:t>
            </a:r>
            <a:endParaRPr lang="en-US" dirty="0">
              <a:solidFill>
                <a:schemeClr val="tx1"/>
              </a:solidFill>
            </a:endParaRPr>
          </a:p>
        </p:txBody>
      </p:sp>
      <p:cxnSp>
        <p:nvCxnSpPr>
          <p:cNvPr id="114" name="Connector: Elbow 113">
            <a:extLst>
              <a:ext uri="{FF2B5EF4-FFF2-40B4-BE49-F238E27FC236}">
                <a16:creationId xmlns:a16="http://schemas.microsoft.com/office/drawing/2014/main" id="{8C6FE10B-162D-A81F-CCF4-3E2CF5C88323}"/>
              </a:ext>
            </a:extLst>
          </p:cNvPr>
          <p:cNvCxnSpPr>
            <a:cxnSpLocks/>
            <a:stCxn id="2" idx="3"/>
            <a:endCxn id="111" idx="1"/>
          </p:cNvCxnSpPr>
          <p:nvPr/>
        </p:nvCxnSpPr>
        <p:spPr>
          <a:xfrm>
            <a:off x="2271252" y="4100054"/>
            <a:ext cx="925909" cy="39"/>
          </a:xfrm>
          <a:prstGeom prst="bentConnector3">
            <a:avLst>
              <a:gd name="adj1" fmla="val 50000"/>
            </a:avLst>
          </a:prstGeom>
          <a:ln w="19050" cap="flat" cmpd="sng" algn="ctr">
            <a:solidFill>
              <a:srgbClr val="113B1C"/>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Rectangle 127">
            <a:extLst>
              <a:ext uri="{FF2B5EF4-FFF2-40B4-BE49-F238E27FC236}">
                <a16:creationId xmlns:a16="http://schemas.microsoft.com/office/drawing/2014/main" id="{E7D67ACE-8FA5-FA43-1405-C7738C74AD55}"/>
              </a:ext>
            </a:extLst>
          </p:cNvPr>
          <p:cNvSpPr/>
          <p:nvPr/>
        </p:nvSpPr>
        <p:spPr>
          <a:xfrm>
            <a:off x="5755106" y="2265987"/>
            <a:ext cx="1973764" cy="472440"/>
          </a:xfrm>
          <a:prstGeom prst="rect">
            <a:avLst/>
          </a:prstGeom>
          <a:solidFill>
            <a:srgbClr val="E0F6E6"/>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Söhne"/>
              </a:rPr>
              <a:t>Classification</a:t>
            </a:r>
            <a:endParaRPr lang="en-US" sz="1400" dirty="0">
              <a:solidFill>
                <a:schemeClr val="tx1"/>
              </a:solidFill>
            </a:endParaRPr>
          </a:p>
        </p:txBody>
      </p:sp>
      <p:cxnSp>
        <p:nvCxnSpPr>
          <p:cNvPr id="129" name="Connector: Elbow 128">
            <a:extLst>
              <a:ext uri="{FF2B5EF4-FFF2-40B4-BE49-F238E27FC236}">
                <a16:creationId xmlns:a16="http://schemas.microsoft.com/office/drawing/2014/main" id="{A8D5B7D6-9696-4615-69EF-09A4A1523BAE}"/>
              </a:ext>
            </a:extLst>
          </p:cNvPr>
          <p:cNvCxnSpPr>
            <a:cxnSpLocks/>
            <a:stCxn id="70" idx="3"/>
            <a:endCxn id="3" idx="1"/>
          </p:cNvCxnSpPr>
          <p:nvPr/>
        </p:nvCxnSpPr>
        <p:spPr>
          <a:xfrm flipV="1">
            <a:off x="5170925" y="1472058"/>
            <a:ext cx="580945" cy="548123"/>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D19A73A9-3ED6-25F8-327D-D00DEBB8818D}"/>
              </a:ext>
            </a:extLst>
          </p:cNvPr>
          <p:cNvCxnSpPr>
            <a:cxnSpLocks/>
            <a:stCxn id="70" idx="3"/>
            <a:endCxn id="128" idx="1"/>
          </p:cNvCxnSpPr>
          <p:nvPr/>
        </p:nvCxnSpPr>
        <p:spPr>
          <a:xfrm>
            <a:off x="5170925" y="2020181"/>
            <a:ext cx="584181" cy="482026"/>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1745DF63-30D4-9DDB-C6A2-78FDEA6E6E9F}"/>
              </a:ext>
            </a:extLst>
          </p:cNvPr>
          <p:cNvSpPr/>
          <p:nvPr/>
        </p:nvSpPr>
        <p:spPr>
          <a:xfrm>
            <a:off x="5751870" y="3285309"/>
            <a:ext cx="1973764" cy="472440"/>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Söhne"/>
              </a:rPr>
              <a:t>Clustering</a:t>
            </a:r>
            <a:endParaRPr lang="en-US" sz="1400" b="1" dirty="0">
              <a:solidFill>
                <a:schemeClr val="tx1"/>
              </a:solidFill>
              <a:latin typeface="Söhne"/>
            </a:endParaRPr>
          </a:p>
        </p:txBody>
      </p:sp>
      <p:sp>
        <p:nvSpPr>
          <p:cNvPr id="147" name="Rectangle 146">
            <a:extLst>
              <a:ext uri="{FF2B5EF4-FFF2-40B4-BE49-F238E27FC236}">
                <a16:creationId xmlns:a16="http://schemas.microsoft.com/office/drawing/2014/main" id="{BBAAE1B2-D43A-7F51-2E9B-B7D0432574D2}"/>
              </a:ext>
            </a:extLst>
          </p:cNvPr>
          <p:cNvSpPr/>
          <p:nvPr/>
        </p:nvSpPr>
        <p:spPr>
          <a:xfrm>
            <a:off x="5742038" y="3867390"/>
            <a:ext cx="1973764" cy="472440"/>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Söhne"/>
              </a:rPr>
              <a:t>Association Analysis</a:t>
            </a:r>
          </a:p>
        </p:txBody>
      </p:sp>
      <p:cxnSp>
        <p:nvCxnSpPr>
          <p:cNvPr id="148" name="Connector: Elbow 147">
            <a:extLst>
              <a:ext uri="{FF2B5EF4-FFF2-40B4-BE49-F238E27FC236}">
                <a16:creationId xmlns:a16="http://schemas.microsoft.com/office/drawing/2014/main" id="{36CB5C1E-3D34-D83D-B6B3-4B4A9FA0D044}"/>
              </a:ext>
            </a:extLst>
          </p:cNvPr>
          <p:cNvCxnSpPr>
            <a:cxnSpLocks/>
            <a:stCxn id="111" idx="3"/>
            <a:endCxn id="146" idx="1"/>
          </p:cNvCxnSpPr>
          <p:nvPr/>
        </p:nvCxnSpPr>
        <p:spPr>
          <a:xfrm flipV="1">
            <a:off x="5170925" y="3521529"/>
            <a:ext cx="580945" cy="578564"/>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553E177F-1F26-D3C1-E948-7D7D1DB4FB13}"/>
              </a:ext>
            </a:extLst>
          </p:cNvPr>
          <p:cNvCxnSpPr>
            <a:cxnSpLocks/>
            <a:stCxn id="111" idx="3"/>
            <a:endCxn id="147" idx="1"/>
          </p:cNvCxnSpPr>
          <p:nvPr/>
        </p:nvCxnSpPr>
        <p:spPr>
          <a:xfrm>
            <a:off x="5170925" y="4100093"/>
            <a:ext cx="571113" cy="3517"/>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3202DA4B-E01D-B8A6-AD29-D56C2989DBE6}"/>
              </a:ext>
            </a:extLst>
          </p:cNvPr>
          <p:cNvSpPr/>
          <p:nvPr/>
        </p:nvSpPr>
        <p:spPr>
          <a:xfrm>
            <a:off x="5755106" y="4412294"/>
            <a:ext cx="1973764" cy="472440"/>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Söhne"/>
              </a:rPr>
              <a:t>Dimensionality Reduction</a:t>
            </a:r>
            <a:endParaRPr lang="en-US" sz="1400" dirty="0">
              <a:solidFill>
                <a:schemeClr val="tx1"/>
              </a:solidFill>
            </a:endParaRPr>
          </a:p>
        </p:txBody>
      </p:sp>
      <p:cxnSp>
        <p:nvCxnSpPr>
          <p:cNvPr id="155" name="Connector: Elbow 154">
            <a:extLst>
              <a:ext uri="{FF2B5EF4-FFF2-40B4-BE49-F238E27FC236}">
                <a16:creationId xmlns:a16="http://schemas.microsoft.com/office/drawing/2014/main" id="{2D015F75-01C2-92BE-46F1-3FB7BBDDEEC2}"/>
              </a:ext>
            </a:extLst>
          </p:cNvPr>
          <p:cNvCxnSpPr>
            <a:cxnSpLocks/>
            <a:stCxn id="111" idx="3"/>
            <a:endCxn id="154" idx="1"/>
          </p:cNvCxnSpPr>
          <p:nvPr/>
        </p:nvCxnSpPr>
        <p:spPr>
          <a:xfrm>
            <a:off x="5170925" y="4100093"/>
            <a:ext cx="584181" cy="548421"/>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61" name="Rectangle 160">
            <a:extLst>
              <a:ext uri="{FF2B5EF4-FFF2-40B4-BE49-F238E27FC236}">
                <a16:creationId xmlns:a16="http://schemas.microsoft.com/office/drawing/2014/main" id="{65ADF847-03BA-4A4B-8612-A5C7B64C92EA}"/>
              </a:ext>
            </a:extLst>
          </p:cNvPr>
          <p:cNvSpPr/>
          <p:nvPr/>
        </p:nvSpPr>
        <p:spPr>
          <a:xfrm>
            <a:off x="8313051" y="1083610"/>
            <a:ext cx="3397168" cy="779254"/>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latin typeface="Söhne"/>
              </a:rPr>
              <a:t>Linear Regression, Polynomial Regression, Support Vector Regression, Decision Tree Regression, Random Forest Regression</a:t>
            </a:r>
            <a:endParaRPr lang="en-US" sz="1300" dirty="0">
              <a:solidFill>
                <a:schemeClr val="tx1"/>
              </a:solidFill>
            </a:endParaRPr>
          </a:p>
        </p:txBody>
      </p:sp>
      <p:cxnSp>
        <p:nvCxnSpPr>
          <p:cNvPr id="162" name="Connector: Elbow 161">
            <a:extLst>
              <a:ext uri="{FF2B5EF4-FFF2-40B4-BE49-F238E27FC236}">
                <a16:creationId xmlns:a16="http://schemas.microsoft.com/office/drawing/2014/main" id="{F7DC6138-81A3-7670-6B7B-B0D5EF701FBB}"/>
              </a:ext>
            </a:extLst>
          </p:cNvPr>
          <p:cNvCxnSpPr>
            <a:cxnSpLocks/>
            <a:stCxn id="3" idx="3"/>
            <a:endCxn id="161" idx="1"/>
          </p:cNvCxnSpPr>
          <p:nvPr/>
        </p:nvCxnSpPr>
        <p:spPr>
          <a:xfrm>
            <a:off x="7725634" y="1472058"/>
            <a:ext cx="587417" cy="1179"/>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5E99785-D420-B837-3FFB-5EA2DD746557}"/>
              </a:ext>
            </a:extLst>
          </p:cNvPr>
          <p:cNvSpPr/>
          <p:nvPr/>
        </p:nvSpPr>
        <p:spPr>
          <a:xfrm>
            <a:off x="8299983" y="2099056"/>
            <a:ext cx="3397168" cy="779227"/>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latin typeface="Söhne"/>
              </a:rPr>
              <a:t>Logistic Regression, K-Nearest Neighbors, Support Vector Machines, Decision Tree, Random Forest, Naïve Bayes</a:t>
            </a:r>
            <a:endParaRPr lang="en-US" sz="1300" dirty="0">
              <a:solidFill>
                <a:schemeClr val="tx1"/>
              </a:solidFill>
            </a:endParaRPr>
          </a:p>
        </p:txBody>
      </p:sp>
      <p:cxnSp>
        <p:nvCxnSpPr>
          <p:cNvPr id="167" name="Connector: Elbow 166">
            <a:extLst>
              <a:ext uri="{FF2B5EF4-FFF2-40B4-BE49-F238E27FC236}">
                <a16:creationId xmlns:a16="http://schemas.microsoft.com/office/drawing/2014/main" id="{43F43D31-321D-0E3A-CEFB-F3A5DB7EC9BD}"/>
              </a:ext>
            </a:extLst>
          </p:cNvPr>
          <p:cNvCxnSpPr>
            <a:cxnSpLocks/>
            <a:stCxn id="128" idx="3"/>
            <a:endCxn id="166" idx="1"/>
          </p:cNvCxnSpPr>
          <p:nvPr/>
        </p:nvCxnSpPr>
        <p:spPr>
          <a:xfrm flipV="1">
            <a:off x="7728870" y="2488670"/>
            <a:ext cx="571113" cy="13537"/>
          </a:xfrm>
          <a:prstGeom prst="bentConnector3">
            <a:avLst>
              <a:gd name="adj1" fmla="val 1795"/>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72" name="Rectangle 171">
            <a:extLst>
              <a:ext uri="{FF2B5EF4-FFF2-40B4-BE49-F238E27FC236}">
                <a16:creationId xmlns:a16="http://schemas.microsoft.com/office/drawing/2014/main" id="{71A59D1E-BC8D-B58D-2E27-8967F8F6AD6C}"/>
              </a:ext>
            </a:extLst>
          </p:cNvPr>
          <p:cNvSpPr/>
          <p:nvPr/>
        </p:nvSpPr>
        <p:spPr>
          <a:xfrm>
            <a:off x="8313051" y="3285755"/>
            <a:ext cx="3397168" cy="472440"/>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latin typeface="Söhne"/>
              </a:rPr>
              <a:t>K-Means, Hierarchical, DBSCAN</a:t>
            </a:r>
            <a:endParaRPr lang="en-US" sz="1300" dirty="0">
              <a:solidFill>
                <a:schemeClr val="tx1"/>
              </a:solidFill>
            </a:endParaRPr>
          </a:p>
        </p:txBody>
      </p:sp>
      <p:cxnSp>
        <p:nvCxnSpPr>
          <p:cNvPr id="173" name="Connector: Elbow 172">
            <a:extLst>
              <a:ext uri="{FF2B5EF4-FFF2-40B4-BE49-F238E27FC236}">
                <a16:creationId xmlns:a16="http://schemas.microsoft.com/office/drawing/2014/main" id="{185B709E-2B74-6701-A0F7-2F2A7EF51101}"/>
              </a:ext>
            </a:extLst>
          </p:cNvPr>
          <p:cNvCxnSpPr>
            <a:cxnSpLocks/>
            <a:stCxn id="146" idx="3"/>
            <a:endCxn id="172" idx="1"/>
          </p:cNvCxnSpPr>
          <p:nvPr/>
        </p:nvCxnSpPr>
        <p:spPr>
          <a:xfrm>
            <a:off x="7725634" y="3521529"/>
            <a:ext cx="587417" cy="446"/>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B9E94A80-24F9-6E06-AEE7-F3C15A938956}"/>
              </a:ext>
            </a:extLst>
          </p:cNvPr>
          <p:cNvSpPr/>
          <p:nvPr/>
        </p:nvSpPr>
        <p:spPr>
          <a:xfrm>
            <a:off x="8313051" y="3851238"/>
            <a:ext cx="3397168" cy="472440"/>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latin typeface="Söhne"/>
              </a:rPr>
              <a:t>Apriori, FP-Growth</a:t>
            </a:r>
            <a:endParaRPr lang="en-US" sz="1300" dirty="0">
              <a:solidFill>
                <a:schemeClr val="tx1"/>
              </a:solidFill>
            </a:endParaRPr>
          </a:p>
        </p:txBody>
      </p:sp>
      <p:cxnSp>
        <p:nvCxnSpPr>
          <p:cNvPr id="178" name="Connector: Elbow 177">
            <a:extLst>
              <a:ext uri="{FF2B5EF4-FFF2-40B4-BE49-F238E27FC236}">
                <a16:creationId xmlns:a16="http://schemas.microsoft.com/office/drawing/2014/main" id="{074A984E-3A51-1660-3DDC-1E047A4A4539}"/>
              </a:ext>
            </a:extLst>
          </p:cNvPr>
          <p:cNvCxnSpPr>
            <a:cxnSpLocks/>
            <a:endCxn id="177" idx="1"/>
          </p:cNvCxnSpPr>
          <p:nvPr/>
        </p:nvCxnSpPr>
        <p:spPr>
          <a:xfrm flipV="1">
            <a:off x="7725634" y="4087458"/>
            <a:ext cx="587417" cy="5927"/>
          </a:xfrm>
          <a:prstGeom prst="bentConnector3">
            <a:avLst>
              <a:gd name="adj1" fmla="val -214"/>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80" name="Rectangle 179">
            <a:extLst>
              <a:ext uri="{FF2B5EF4-FFF2-40B4-BE49-F238E27FC236}">
                <a16:creationId xmlns:a16="http://schemas.microsoft.com/office/drawing/2014/main" id="{6BCF40BA-445C-3DA3-1E14-D54409BF5AFA}"/>
              </a:ext>
            </a:extLst>
          </p:cNvPr>
          <p:cNvSpPr/>
          <p:nvPr/>
        </p:nvSpPr>
        <p:spPr>
          <a:xfrm>
            <a:off x="8313051" y="4406367"/>
            <a:ext cx="3397168" cy="472440"/>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latin typeface="Söhne"/>
              </a:rPr>
              <a:t>PCA, LDA</a:t>
            </a:r>
            <a:endParaRPr lang="en-US" sz="1300" dirty="0">
              <a:solidFill>
                <a:schemeClr val="tx1"/>
              </a:solidFill>
            </a:endParaRPr>
          </a:p>
        </p:txBody>
      </p:sp>
      <p:cxnSp>
        <p:nvCxnSpPr>
          <p:cNvPr id="181" name="Connector: Elbow 180">
            <a:extLst>
              <a:ext uri="{FF2B5EF4-FFF2-40B4-BE49-F238E27FC236}">
                <a16:creationId xmlns:a16="http://schemas.microsoft.com/office/drawing/2014/main" id="{61772D9D-511F-1F90-40E3-938CD38FA3E8}"/>
              </a:ext>
            </a:extLst>
          </p:cNvPr>
          <p:cNvCxnSpPr>
            <a:cxnSpLocks/>
            <a:endCxn id="180" idx="1"/>
          </p:cNvCxnSpPr>
          <p:nvPr/>
        </p:nvCxnSpPr>
        <p:spPr>
          <a:xfrm flipV="1">
            <a:off x="7725634" y="4642587"/>
            <a:ext cx="587417" cy="5927"/>
          </a:xfrm>
          <a:prstGeom prst="bentConnector3">
            <a:avLst>
              <a:gd name="adj1" fmla="val -214"/>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82" name="Rectangle 181">
            <a:extLst>
              <a:ext uri="{FF2B5EF4-FFF2-40B4-BE49-F238E27FC236}">
                <a16:creationId xmlns:a16="http://schemas.microsoft.com/office/drawing/2014/main" id="{775D2153-D154-52CE-41C2-899EF634B820}"/>
              </a:ext>
            </a:extLst>
          </p:cNvPr>
          <p:cNvSpPr/>
          <p:nvPr/>
        </p:nvSpPr>
        <p:spPr>
          <a:xfrm>
            <a:off x="8290988" y="5702711"/>
            <a:ext cx="3397168" cy="874927"/>
          </a:xfrm>
          <a:prstGeom prst="rect">
            <a:avLst/>
          </a:prstGeom>
          <a:solidFill>
            <a:srgbClr val="E0F6E6"/>
          </a:solidFill>
          <a:ln>
            <a:solidFill>
              <a:srgbClr val="113B1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dirty="0">
                <a:solidFill>
                  <a:schemeClr val="tx1"/>
                </a:solidFill>
                <a:latin typeface="Söhne"/>
              </a:rPr>
              <a:t>Q-Learning, Deep Q-Networks…</a:t>
            </a:r>
            <a:endParaRPr lang="en-US" sz="1300" dirty="0">
              <a:solidFill>
                <a:schemeClr val="tx1"/>
              </a:solidFill>
            </a:endParaRPr>
          </a:p>
        </p:txBody>
      </p:sp>
      <p:cxnSp>
        <p:nvCxnSpPr>
          <p:cNvPr id="183" name="Connector: Elbow 182">
            <a:extLst>
              <a:ext uri="{FF2B5EF4-FFF2-40B4-BE49-F238E27FC236}">
                <a16:creationId xmlns:a16="http://schemas.microsoft.com/office/drawing/2014/main" id="{A67D38C8-4D64-2FA1-42EA-F36DA383AC25}"/>
              </a:ext>
            </a:extLst>
          </p:cNvPr>
          <p:cNvCxnSpPr>
            <a:cxnSpLocks/>
            <a:stCxn id="7" idx="3"/>
            <a:endCxn id="182" idx="1"/>
          </p:cNvCxnSpPr>
          <p:nvPr/>
        </p:nvCxnSpPr>
        <p:spPr>
          <a:xfrm flipV="1">
            <a:off x="5170925" y="6140175"/>
            <a:ext cx="3120063" cy="1401"/>
          </a:xfrm>
          <a:prstGeom prst="bentConnector3">
            <a:avLst>
              <a:gd name="adj1" fmla="val 50000"/>
            </a:avLst>
          </a:prstGeom>
          <a:ln>
            <a:solidFill>
              <a:srgbClr val="113B1C"/>
            </a:solidFill>
            <a:tailEnd type="triangle"/>
          </a:ln>
        </p:spPr>
        <p:style>
          <a:lnRef idx="1">
            <a:schemeClr val="accent1"/>
          </a:lnRef>
          <a:fillRef idx="0">
            <a:schemeClr val="accent1"/>
          </a:fillRef>
          <a:effectRef idx="0">
            <a:schemeClr val="accent1"/>
          </a:effectRef>
          <a:fontRef idx="minor">
            <a:schemeClr val="tx1"/>
          </a:fontRef>
        </p:style>
      </p:cxnSp>
      <p:sp>
        <p:nvSpPr>
          <p:cNvPr id="187" name="Title 1">
            <a:extLst>
              <a:ext uri="{FF2B5EF4-FFF2-40B4-BE49-F238E27FC236}">
                <a16:creationId xmlns:a16="http://schemas.microsoft.com/office/drawing/2014/main" id="{0DA2D83A-C6E0-3836-9A48-3674F0645D88}"/>
              </a:ext>
            </a:extLst>
          </p:cNvPr>
          <p:cNvSpPr txBox="1">
            <a:spLocks/>
          </p:cNvSpPr>
          <p:nvPr/>
        </p:nvSpPr>
        <p:spPr>
          <a:xfrm>
            <a:off x="285135" y="223675"/>
            <a:ext cx="11906865"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Machine Learning Algorithms</a:t>
            </a:r>
          </a:p>
        </p:txBody>
      </p:sp>
    </p:spTree>
    <p:extLst>
      <p:ext uri="{BB962C8B-B14F-4D97-AF65-F5344CB8AC3E}">
        <p14:creationId xmlns:p14="http://schemas.microsoft.com/office/powerpoint/2010/main" val="1591617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How to Choose the Right Classification Type?</a:t>
            </a:r>
          </a:p>
        </p:txBody>
      </p:sp>
      <p:sp>
        <p:nvSpPr>
          <p:cNvPr id="9" name="Rectangle 8">
            <a:extLst>
              <a:ext uri="{FF2B5EF4-FFF2-40B4-BE49-F238E27FC236}">
                <a16:creationId xmlns:a16="http://schemas.microsoft.com/office/drawing/2014/main" id="{25B6580F-830D-416E-98F4-DAF8B2228149}"/>
              </a:ext>
            </a:extLst>
          </p:cNvPr>
          <p:cNvSpPr/>
          <p:nvPr/>
        </p:nvSpPr>
        <p:spPr>
          <a:xfrm>
            <a:off x="887842" y="1445219"/>
            <a:ext cx="10652288" cy="1323439"/>
          </a:xfrm>
          <a:prstGeom prst="rect">
            <a:avLst/>
          </a:prstGeom>
        </p:spPr>
        <p:txBody>
          <a:bodyPr wrap="square">
            <a:spAutoFit/>
          </a:bodyPr>
          <a:lstStyle/>
          <a:p>
            <a:pPr marL="342900" indent="-342900">
              <a:buFont typeface="Arial" panose="020B0604020202020204" pitchFamily="34" charset="0"/>
              <a:buChar char="•"/>
            </a:pPr>
            <a:r>
              <a:rPr lang="en-US" sz="2000" dirty="0">
                <a:latin typeface="-apple-system"/>
              </a:rPr>
              <a:t>If the problem has only two outcomes, use Binary Classification.</a:t>
            </a:r>
          </a:p>
          <a:p>
            <a:pPr marL="342900" indent="-342900">
              <a:buFont typeface="Arial" panose="020B0604020202020204" pitchFamily="34" charset="0"/>
              <a:buChar char="•"/>
            </a:pPr>
            <a:r>
              <a:rPr lang="en-US" sz="2000" dirty="0">
                <a:latin typeface="-apple-system"/>
              </a:rPr>
              <a:t>If the problem has more than two outcomes, and only one label is assigned per instance, use Multi-Class Classification.</a:t>
            </a:r>
          </a:p>
          <a:p>
            <a:pPr marL="342900" indent="-342900">
              <a:buFont typeface="Arial" panose="020B0604020202020204" pitchFamily="34" charset="0"/>
              <a:buChar char="•"/>
            </a:pPr>
            <a:r>
              <a:rPr lang="en-US" sz="2000" dirty="0">
                <a:latin typeface="-apple-system"/>
              </a:rPr>
              <a:t>If the problem requires assigning multiple labels per instance, use Multi-Label Classification.</a:t>
            </a:r>
            <a:endParaRPr lang="en-US" sz="2100" dirty="0"/>
          </a:p>
        </p:txBody>
      </p:sp>
      <p:graphicFrame>
        <p:nvGraphicFramePr>
          <p:cNvPr id="3" name="Table 2">
            <a:extLst>
              <a:ext uri="{FF2B5EF4-FFF2-40B4-BE49-F238E27FC236}">
                <a16:creationId xmlns:a16="http://schemas.microsoft.com/office/drawing/2014/main" id="{E9265857-C6FF-4C95-9BFC-12A39729C5E6}"/>
              </a:ext>
            </a:extLst>
          </p:cNvPr>
          <p:cNvGraphicFramePr>
            <a:graphicFrameLocks noGrp="1"/>
          </p:cNvGraphicFramePr>
          <p:nvPr>
            <p:extLst>
              <p:ext uri="{D42A27DB-BD31-4B8C-83A1-F6EECF244321}">
                <p14:modId xmlns:p14="http://schemas.microsoft.com/office/powerpoint/2010/main" val="1568045806"/>
              </p:ext>
            </p:extLst>
          </p:nvPr>
        </p:nvGraphicFramePr>
        <p:xfrm>
          <a:off x="930565" y="3585647"/>
          <a:ext cx="10515600" cy="2286000"/>
        </p:xfrm>
        <a:graphic>
          <a:graphicData uri="http://schemas.openxmlformats.org/drawingml/2006/table">
            <a:tbl>
              <a:tblPr/>
              <a:tblGrid>
                <a:gridCol w="2628900">
                  <a:extLst>
                    <a:ext uri="{9D8B030D-6E8A-4147-A177-3AD203B41FA5}">
                      <a16:colId xmlns:a16="http://schemas.microsoft.com/office/drawing/2014/main" val="2394762843"/>
                    </a:ext>
                  </a:extLst>
                </a:gridCol>
                <a:gridCol w="2628900">
                  <a:extLst>
                    <a:ext uri="{9D8B030D-6E8A-4147-A177-3AD203B41FA5}">
                      <a16:colId xmlns:a16="http://schemas.microsoft.com/office/drawing/2014/main" val="3796145109"/>
                    </a:ext>
                  </a:extLst>
                </a:gridCol>
                <a:gridCol w="2628900">
                  <a:extLst>
                    <a:ext uri="{9D8B030D-6E8A-4147-A177-3AD203B41FA5}">
                      <a16:colId xmlns:a16="http://schemas.microsoft.com/office/drawing/2014/main" val="1204580836"/>
                    </a:ext>
                  </a:extLst>
                </a:gridCol>
                <a:gridCol w="2628900">
                  <a:extLst>
                    <a:ext uri="{9D8B030D-6E8A-4147-A177-3AD203B41FA5}">
                      <a16:colId xmlns:a16="http://schemas.microsoft.com/office/drawing/2014/main" val="3541073942"/>
                    </a:ext>
                  </a:extLst>
                </a:gridCol>
              </a:tblGrid>
              <a:tr h="0">
                <a:tc>
                  <a:txBody>
                    <a:bodyPr/>
                    <a:lstStyle/>
                    <a:p>
                      <a:r>
                        <a:rPr lang="az-Latn-AZ" b="1"/>
                        <a:t>Type</a:t>
                      </a:r>
                      <a:endParaRPr lang="az-Latn-AZ"/>
                    </a:p>
                  </a:txBody>
                  <a:tcPr anchor="ct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tc>
                  <a:txBody>
                    <a:bodyPr/>
                    <a:lstStyle/>
                    <a:p>
                      <a:r>
                        <a:rPr lang="az-Latn-AZ" b="1"/>
                        <a:t>Number of Classes</a:t>
                      </a:r>
                      <a:endParaRPr lang="az-Latn-AZ"/>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tc>
                  <a:txBody>
                    <a:bodyPr/>
                    <a:lstStyle/>
                    <a:p>
                      <a:r>
                        <a:rPr lang="az-Latn-AZ" b="1"/>
                        <a:t>Example</a:t>
                      </a:r>
                      <a:endParaRPr lang="az-Latn-AZ"/>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tc>
                  <a:txBody>
                    <a:bodyPr/>
                    <a:lstStyle/>
                    <a:p>
                      <a:r>
                        <a:rPr lang="az-Latn-AZ" b="1"/>
                        <a:t>Labels per Instance</a:t>
                      </a:r>
                      <a:endParaRPr lang="az-Latn-AZ"/>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extLst>
                  <a:ext uri="{0D108BD9-81ED-4DB2-BD59-A6C34878D82A}">
                    <a16:rowId xmlns:a16="http://schemas.microsoft.com/office/drawing/2014/main" val="1360034142"/>
                  </a:ext>
                </a:extLst>
              </a:tr>
              <a:tr h="0">
                <a:tc>
                  <a:txBody>
                    <a:bodyPr/>
                    <a:lstStyle/>
                    <a:p>
                      <a:r>
                        <a:rPr lang="az-Latn-AZ" b="1" dirty="0"/>
                        <a:t>Binary Classification</a:t>
                      </a:r>
                      <a:endParaRPr lang="az-Latn-AZ" dirty="0"/>
                    </a:p>
                  </a:txBody>
                  <a:tcPr anchor="ct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solidFill>
                      <a:srgbClr val="E0F6E6"/>
                    </a:solidFill>
                  </a:tcPr>
                </a:tc>
                <a:tc>
                  <a:txBody>
                    <a:bodyPr/>
                    <a:lstStyle/>
                    <a:p>
                      <a:r>
                        <a:rPr lang="az-Latn-AZ" dirty="0"/>
                        <a:t>2</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solidFill>
                      <a:srgbClr val="E0F6E6"/>
                    </a:solidFill>
                  </a:tcPr>
                </a:tc>
                <a:tc>
                  <a:txBody>
                    <a:bodyPr/>
                    <a:lstStyle/>
                    <a:p>
                      <a:r>
                        <a:rPr lang="en-US" dirty="0"/>
                        <a:t>Spam Detection (Spam/Not Spam)</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solidFill>
                      <a:srgbClr val="E0F6E6"/>
                    </a:solidFill>
                  </a:tcPr>
                </a:tc>
                <a:tc>
                  <a:txBody>
                    <a:bodyPr/>
                    <a:lstStyle/>
                    <a:p>
                      <a:r>
                        <a:rPr lang="az-Latn-AZ" dirty="0"/>
                        <a:t>1</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solidFill>
                      <a:srgbClr val="E0F6E6"/>
                    </a:solidFill>
                  </a:tcPr>
                </a:tc>
                <a:extLst>
                  <a:ext uri="{0D108BD9-81ED-4DB2-BD59-A6C34878D82A}">
                    <a16:rowId xmlns:a16="http://schemas.microsoft.com/office/drawing/2014/main" val="3820050676"/>
                  </a:ext>
                </a:extLst>
              </a:tr>
              <a:tr h="0">
                <a:tc>
                  <a:txBody>
                    <a:bodyPr/>
                    <a:lstStyle/>
                    <a:p>
                      <a:r>
                        <a:rPr lang="az-Latn-AZ" b="1"/>
                        <a:t>Multi-Class Classification</a:t>
                      </a:r>
                      <a:endParaRPr lang="az-Latn-AZ"/>
                    </a:p>
                  </a:txBody>
                  <a:tcPr anchor="ct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tc>
                  <a:txBody>
                    <a:bodyPr/>
                    <a:lstStyle/>
                    <a:p>
                      <a:r>
                        <a:rPr lang="az-Latn-AZ"/>
                        <a:t>3 or more</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tc>
                  <a:txBody>
                    <a:bodyPr/>
                    <a:lstStyle/>
                    <a:p>
                      <a:r>
                        <a:rPr lang="az-Latn-AZ"/>
                        <a:t>Dog/Cat/Rabbit Classification</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tc>
                  <a:txBody>
                    <a:bodyPr/>
                    <a:lstStyle/>
                    <a:p>
                      <a:r>
                        <a:rPr lang="az-Latn-AZ"/>
                        <a:t>1</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bg1">
                          <a:lumMod val="50000"/>
                        </a:schemeClr>
                      </a:solidFill>
                      <a:prstDash val="sysDashDot"/>
                      <a:round/>
                      <a:headEnd type="none" w="med" len="med"/>
                      <a:tailEnd type="none" w="med" len="med"/>
                    </a:lnB>
                  </a:tcPr>
                </a:tc>
                <a:extLst>
                  <a:ext uri="{0D108BD9-81ED-4DB2-BD59-A6C34878D82A}">
                    <a16:rowId xmlns:a16="http://schemas.microsoft.com/office/drawing/2014/main" val="311944037"/>
                  </a:ext>
                </a:extLst>
              </a:tr>
              <a:tr h="0">
                <a:tc>
                  <a:txBody>
                    <a:bodyPr/>
                    <a:lstStyle/>
                    <a:p>
                      <a:r>
                        <a:rPr lang="az-Latn-AZ" b="1" dirty="0"/>
                        <a:t>Multi-Label Classification</a:t>
                      </a:r>
                      <a:endParaRPr lang="az-Latn-AZ" dirty="0"/>
                    </a:p>
                  </a:txBody>
                  <a:tcPr anchor="ctr">
                    <a:lnL w="12700" cap="flat" cmpd="sng" algn="ctr">
                      <a:solidFill>
                        <a:schemeClr val="tx1"/>
                      </a:solidFill>
                      <a:prstDash val="solid"/>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tx1"/>
                      </a:solidFill>
                      <a:prstDash val="solid"/>
                      <a:round/>
                      <a:headEnd type="none" w="med" len="med"/>
                      <a:tailEnd type="none" w="med" len="med"/>
                    </a:lnB>
                    <a:solidFill>
                      <a:srgbClr val="E0F6E6"/>
                    </a:solidFill>
                  </a:tcPr>
                </a:tc>
                <a:tc>
                  <a:txBody>
                    <a:bodyPr/>
                    <a:lstStyle/>
                    <a:p>
                      <a:r>
                        <a:rPr lang="az-Latn-AZ" dirty="0"/>
                        <a:t>3 or more</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tx1"/>
                      </a:solidFill>
                      <a:prstDash val="solid"/>
                      <a:round/>
                      <a:headEnd type="none" w="med" len="med"/>
                      <a:tailEnd type="none" w="med" len="med"/>
                    </a:lnB>
                    <a:solidFill>
                      <a:srgbClr val="E0F6E6"/>
                    </a:solidFill>
                  </a:tcPr>
                </a:tc>
                <a:tc>
                  <a:txBody>
                    <a:bodyPr/>
                    <a:lstStyle/>
                    <a:p>
                      <a:r>
                        <a:rPr lang="az-Latn-AZ" dirty="0"/>
                        <a:t>Movie Genre Prediction (Action + Comedy + Sci-Fi)</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bg1">
                          <a:lumMod val="50000"/>
                        </a:schemeClr>
                      </a:solidFill>
                      <a:prstDash val="sysDashDot"/>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tx1"/>
                      </a:solidFill>
                      <a:prstDash val="solid"/>
                      <a:round/>
                      <a:headEnd type="none" w="med" len="med"/>
                      <a:tailEnd type="none" w="med" len="med"/>
                    </a:lnB>
                    <a:solidFill>
                      <a:srgbClr val="E0F6E6"/>
                    </a:solidFill>
                  </a:tcPr>
                </a:tc>
                <a:tc>
                  <a:txBody>
                    <a:bodyPr/>
                    <a:lstStyle/>
                    <a:p>
                      <a:r>
                        <a:rPr lang="az-Latn-AZ" dirty="0"/>
                        <a:t>Multiple</a:t>
                      </a:r>
                    </a:p>
                  </a:txBody>
                  <a:tcPr anchor="ctr">
                    <a:lnL w="12700" cap="flat" cmpd="sng" algn="ctr">
                      <a:solidFill>
                        <a:schemeClr val="bg1">
                          <a:lumMod val="50000"/>
                        </a:schemeClr>
                      </a:solidFill>
                      <a:prstDash val="sysDash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50000"/>
                        </a:schemeClr>
                      </a:solidFill>
                      <a:prstDash val="sysDashDot"/>
                      <a:round/>
                      <a:headEnd type="none" w="med" len="med"/>
                      <a:tailEnd type="none" w="med" len="med"/>
                    </a:lnT>
                    <a:lnB w="12700" cap="flat" cmpd="sng" algn="ctr">
                      <a:solidFill>
                        <a:schemeClr val="tx1"/>
                      </a:solidFill>
                      <a:prstDash val="solid"/>
                      <a:round/>
                      <a:headEnd type="none" w="med" len="med"/>
                      <a:tailEnd type="none" w="med" len="med"/>
                    </a:lnB>
                    <a:solidFill>
                      <a:srgbClr val="E0F6E6"/>
                    </a:solidFill>
                  </a:tcPr>
                </a:tc>
                <a:extLst>
                  <a:ext uri="{0D108BD9-81ED-4DB2-BD59-A6C34878D82A}">
                    <a16:rowId xmlns:a16="http://schemas.microsoft.com/office/drawing/2014/main" val="2524770936"/>
                  </a:ext>
                </a:extLst>
              </a:tr>
            </a:tbl>
          </a:graphicData>
        </a:graphic>
      </p:graphicFrame>
    </p:spTree>
    <p:extLst>
      <p:ext uri="{BB962C8B-B14F-4D97-AF65-F5344CB8AC3E}">
        <p14:creationId xmlns:p14="http://schemas.microsoft.com/office/powerpoint/2010/main" val="1581189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80B7-46D9-A654-AF6D-51FE3DAA7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A385A-B430-EB6E-2E1D-8F7830065917}"/>
              </a:ext>
            </a:extLst>
          </p:cNvPr>
          <p:cNvSpPr txBox="1">
            <a:spLocks/>
          </p:cNvSpPr>
          <p:nvPr/>
        </p:nvSpPr>
        <p:spPr>
          <a:xfrm>
            <a:off x="599767" y="2931499"/>
            <a:ext cx="10343536"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000" dirty="0">
              <a:solidFill>
                <a:srgbClr val="C00000"/>
              </a:solidFill>
              <a:latin typeface="erdana"/>
            </a:endParaRPr>
          </a:p>
          <a:p>
            <a:endParaRPr lang="en-US" sz="6000" dirty="0">
              <a:solidFill>
                <a:srgbClr val="C00000"/>
              </a:solidFill>
              <a:latin typeface="erdana"/>
            </a:endParaRPr>
          </a:p>
          <a:p>
            <a:r>
              <a:rPr lang="en-US" sz="6000" dirty="0">
                <a:solidFill>
                  <a:srgbClr val="C00000"/>
                </a:solidFill>
                <a:latin typeface="erdana"/>
              </a:rPr>
              <a:t>Support Vector Machine</a:t>
            </a:r>
          </a:p>
        </p:txBody>
      </p:sp>
    </p:spTree>
    <p:extLst>
      <p:ext uri="{BB962C8B-B14F-4D97-AF65-F5344CB8AC3E}">
        <p14:creationId xmlns:p14="http://schemas.microsoft.com/office/powerpoint/2010/main" val="368432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What is Support Vector Machine?</a:t>
            </a:r>
          </a:p>
        </p:txBody>
      </p:sp>
      <p:sp>
        <p:nvSpPr>
          <p:cNvPr id="9" name="Rectangle 8">
            <a:extLst>
              <a:ext uri="{FF2B5EF4-FFF2-40B4-BE49-F238E27FC236}">
                <a16:creationId xmlns:a16="http://schemas.microsoft.com/office/drawing/2014/main" id="{25B6580F-830D-416E-98F4-DAF8B2228149}"/>
              </a:ext>
            </a:extLst>
          </p:cNvPr>
          <p:cNvSpPr/>
          <p:nvPr/>
        </p:nvSpPr>
        <p:spPr>
          <a:xfrm>
            <a:off x="587097" y="1680889"/>
            <a:ext cx="10470544" cy="3477875"/>
          </a:xfrm>
          <a:prstGeom prst="rect">
            <a:avLst/>
          </a:prstGeom>
        </p:spPr>
        <p:txBody>
          <a:bodyPr wrap="square">
            <a:spAutoFit/>
          </a:bodyPr>
          <a:lstStyle/>
          <a:p>
            <a:pPr marL="342900" indent="-342900">
              <a:buFont typeface="Arial" panose="020B0604020202020204" pitchFamily="34" charset="0"/>
              <a:buChar char="•"/>
            </a:pPr>
            <a:r>
              <a:rPr lang="en-US" sz="2200" dirty="0"/>
              <a:t>Support Vector Machine (SVM) is a powerful supervised learning algorithm used for classification and regression tasks. </a:t>
            </a:r>
          </a:p>
          <a:p>
            <a:pPr marL="342900" indent="-342900">
              <a:buFont typeface="Arial" panose="020B0604020202020204" pitchFamily="34" charset="0"/>
              <a:buChar char="•"/>
            </a:pPr>
            <a:r>
              <a:rPr lang="en-US" sz="2200" dirty="0"/>
              <a:t>It works by finding the optimal hyperplane that maximizes the margin between different classes in a dataset. </a:t>
            </a:r>
          </a:p>
          <a:p>
            <a:pPr marL="342900" indent="-342900">
              <a:buFont typeface="Arial" panose="020B0604020202020204" pitchFamily="34" charset="0"/>
              <a:buChar char="•"/>
            </a:pPr>
            <a:r>
              <a:rPr lang="en-US" sz="2200" dirty="0"/>
              <a:t>SVM uses support vectors, which are the closest data points to the hyperplane, to define the decision boundary. </a:t>
            </a:r>
          </a:p>
          <a:p>
            <a:pPr marL="342900" indent="-342900">
              <a:buFont typeface="Arial" panose="020B0604020202020204" pitchFamily="34" charset="0"/>
              <a:buChar char="•"/>
            </a:pPr>
            <a:r>
              <a:rPr lang="en-US" sz="2200" dirty="0"/>
              <a:t>When data is not linearly separable, SVM applies the kernel trick to transform the data into a higher-dimensional space where it becomes separable. </a:t>
            </a:r>
          </a:p>
          <a:p>
            <a:pPr marL="342900" indent="-342900">
              <a:buFont typeface="Arial" panose="020B0604020202020204" pitchFamily="34" charset="0"/>
              <a:buChar char="•"/>
            </a:pPr>
            <a:r>
              <a:rPr lang="en-US" sz="2200" dirty="0"/>
              <a:t>With strong generalization capabilities, SVM is particularly effective in high-dimensional spaces and is widely used in image recognition, text classification, and bioinformatics.</a:t>
            </a:r>
          </a:p>
        </p:txBody>
      </p:sp>
    </p:spTree>
    <p:extLst>
      <p:ext uri="{BB962C8B-B14F-4D97-AF65-F5344CB8AC3E}">
        <p14:creationId xmlns:p14="http://schemas.microsoft.com/office/powerpoint/2010/main" val="29098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Terminologies in Support Vector Machine?</a:t>
            </a:r>
          </a:p>
        </p:txBody>
      </p:sp>
      <p:sp>
        <p:nvSpPr>
          <p:cNvPr id="9" name="Rectangle 8">
            <a:extLst>
              <a:ext uri="{FF2B5EF4-FFF2-40B4-BE49-F238E27FC236}">
                <a16:creationId xmlns:a16="http://schemas.microsoft.com/office/drawing/2014/main" id="{25B6580F-830D-416E-98F4-DAF8B2228149}"/>
              </a:ext>
            </a:extLst>
          </p:cNvPr>
          <p:cNvSpPr/>
          <p:nvPr/>
        </p:nvSpPr>
        <p:spPr>
          <a:xfrm>
            <a:off x="245098" y="1332097"/>
            <a:ext cx="6077146" cy="5047536"/>
          </a:xfrm>
          <a:prstGeom prst="rect">
            <a:avLst/>
          </a:prstGeom>
        </p:spPr>
        <p:txBody>
          <a:bodyPr wrap="square">
            <a:spAutoFit/>
          </a:bodyPr>
          <a:lstStyle/>
          <a:p>
            <a:pPr marL="342900" indent="-342900">
              <a:buFont typeface="Arial" panose="020B0604020202020204" pitchFamily="34" charset="0"/>
              <a:buChar char="•"/>
            </a:pPr>
            <a:r>
              <a:rPr lang="en-US" sz="2100" dirty="0"/>
              <a:t>Hyperplane:</a:t>
            </a:r>
          </a:p>
          <a:p>
            <a:pPr marL="800100" lvl="1" indent="-342900">
              <a:buFont typeface="Arial" panose="020B0604020202020204" pitchFamily="34" charset="0"/>
              <a:buChar char="•"/>
            </a:pPr>
            <a:r>
              <a:rPr lang="en-US" sz="2000" dirty="0"/>
              <a:t>The </a:t>
            </a:r>
            <a:r>
              <a:rPr lang="en-US" sz="2000" b="1" dirty="0"/>
              <a:t>hyperplane</a:t>
            </a:r>
            <a:r>
              <a:rPr lang="en-US" sz="2000" dirty="0"/>
              <a:t> is the decision boundary that separates different classes in the dataset.</a:t>
            </a:r>
          </a:p>
          <a:p>
            <a:pPr marL="800100" lvl="1" indent="-342900">
              <a:buFont typeface="Arial" panose="020B0604020202020204" pitchFamily="34" charset="0"/>
              <a:buChar char="•"/>
            </a:pPr>
            <a:r>
              <a:rPr lang="en-US" sz="2000" dirty="0"/>
              <a:t>In 2D space, it is a straight line; in 3D space, it is a</a:t>
            </a:r>
            <a:r>
              <a:rPr lang="en-US" sz="2000" b="1" dirty="0"/>
              <a:t> plane</a:t>
            </a:r>
            <a:r>
              <a:rPr lang="en-US" sz="2000" dirty="0"/>
              <a:t>; in higher dimensions, it is a </a:t>
            </a:r>
            <a:r>
              <a:rPr lang="en-US" sz="2000" b="1" dirty="0"/>
              <a:t>hyperplane</a:t>
            </a:r>
            <a:r>
              <a:rPr lang="en-US" sz="2000" dirty="0"/>
              <a:t>.</a:t>
            </a:r>
          </a:p>
          <a:p>
            <a:pPr marL="800100" lvl="1" indent="-342900">
              <a:buFont typeface="Arial" panose="020B0604020202020204" pitchFamily="34" charset="0"/>
              <a:buChar char="•"/>
            </a:pPr>
            <a:r>
              <a:rPr lang="en-US" sz="2000" dirty="0"/>
              <a:t>The goal of SVM is to find the optimal hyperplane that maximizes the margin between classes.</a:t>
            </a:r>
          </a:p>
          <a:p>
            <a:pPr marL="342900" indent="-342900">
              <a:buFont typeface="Arial" panose="020B0604020202020204" pitchFamily="34" charset="0"/>
              <a:buChar char="•"/>
            </a:pPr>
            <a:r>
              <a:rPr lang="en-US" sz="2100" dirty="0"/>
              <a:t>Support vectors:</a:t>
            </a:r>
          </a:p>
          <a:p>
            <a:pPr marL="800100" lvl="1" indent="-342900">
              <a:buFont typeface="Arial" panose="020B0604020202020204" pitchFamily="34" charset="0"/>
              <a:buChar char="•"/>
            </a:pPr>
            <a:r>
              <a:rPr lang="en-US" sz="2000" b="1" dirty="0"/>
              <a:t>Support vectors </a:t>
            </a:r>
            <a:r>
              <a:rPr lang="en-US" sz="2000" dirty="0"/>
              <a:t>are the data points closest to the hyperplane.</a:t>
            </a:r>
          </a:p>
          <a:p>
            <a:pPr marL="800100" lvl="1" indent="-342900">
              <a:buFont typeface="Arial" panose="020B0604020202020204" pitchFamily="34" charset="0"/>
              <a:buChar char="•"/>
            </a:pPr>
            <a:r>
              <a:rPr lang="en-US" sz="2000" dirty="0"/>
              <a:t>These points define the margin and influence the position of the hyperplane.</a:t>
            </a:r>
          </a:p>
          <a:p>
            <a:pPr marL="800100" lvl="1" indent="-342900">
              <a:buFont typeface="Arial" panose="020B0604020202020204" pitchFamily="34" charset="0"/>
              <a:buChar char="•"/>
            </a:pPr>
            <a:r>
              <a:rPr lang="en-US" sz="2000" dirty="0"/>
              <a:t>Even if other points are removed, the decision boundary remains the same because only the support vectors determine it.</a:t>
            </a:r>
          </a:p>
        </p:txBody>
      </p:sp>
      <p:pic>
        <p:nvPicPr>
          <p:cNvPr id="2" name="Picture 1">
            <a:extLst>
              <a:ext uri="{FF2B5EF4-FFF2-40B4-BE49-F238E27FC236}">
                <a16:creationId xmlns:a16="http://schemas.microsoft.com/office/drawing/2014/main" id="{24E6A3B7-AB68-4509-8857-55B2F473A319}"/>
              </a:ext>
            </a:extLst>
          </p:cNvPr>
          <p:cNvPicPr>
            <a:picLocks noChangeAspect="1"/>
          </p:cNvPicPr>
          <p:nvPr/>
        </p:nvPicPr>
        <p:blipFill>
          <a:blip r:embed="rId3"/>
          <a:stretch>
            <a:fillRect/>
          </a:stretch>
        </p:blipFill>
        <p:spPr>
          <a:xfrm>
            <a:off x="6322244" y="1709170"/>
            <a:ext cx="5715000" cy="3810000"/>
          </a:xfrm>
          <a:prstGeom prst="rect">
            <a:avLst/>
          </a:prstGeom>
        </p:spPr>
      </p:pic>
    </p:spTree>
    <p:extLst>
      <p:ext uri="{BB962C8B-B14F-4D97-AF65-F5344CB8AC3E}">
        <p14:creationId xmlns:p14="http://schemas.microsoft.com/office/powerpoint/2010/main" val="3495014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Terminologies in Support Vector Machine?</a:t>
            </a:r>
          </a:p>
        </p:txBody>
      </p:sp>
      <p:sp>
        <p:nvSpPr>
          <p:cNvPr id="9" name="Rectangle 8">
            <a:extLst>
              <a:ext uri="{FF2B5EF4-FFF2-40B4-BE49-F238E27FC236}">
                <a16:creationId xmlns:a16="http://schemas.microsoft.com/office/drawing/2014/main" id="{25B6580F-830D-416E-98F4-DAF8B2228149}"/>
              </a:ext>
            </a:extLst>
          </p:cNvPr>
          <p:cNvSpPr/>
          <p:nvPr/>
        </p:nvSpPr>
        <p:spPr>
          <a:xfrm>
            <a:off x="669304" y="1859843"/>
            <a:ext cx="4666267" cy="3662541"/>
          </a:xfrm>
          <a:prstGeom prst="rect">
            <a:avLst/>
          </a:prstGeom>
        </p:spPr>
        <p:txBody>
          <a:bodyPr wrap="square">
            <a:spAutoFit/>
          </a:bodyPr>
          <a:lstStyle/>
          <a:p>
            <a:pPr marL="342900" indent="-342900">
              <a:buFont typeface="Arial" panose="020B0604020202020204" pitchFamily="34" charset="0"/>
              <a:buChar char="•"/>
            </a:pPr>
            <a:r>
              <a:rPr lang="en-US" sz="2200" dirty="0"/>
              <a:t>Margin:</a:t>
            </a:r>
          </a:p>
          <a:p>
            <a:pPr marL="800100" lvl="1" indent="-342900">
              <a:buFont typeface="Arial" panose="020B0604020202020204" pitchFamily="34" charset="0"/>
              <a:buChar char="•"/>
            </a:pPr>
            <a:r>
              <a:rPr lang="en-US" sz="2100" dirty="0"/>
              <a:t>The margin is the distance between the hyperplane and the nearest support vectors.</a:t>
            </a:r>
          </a:p>
          <a:p>
            <a:pPr marL="800100" lvl="1" indent="-342900">
              <a:buFont typeface="Arial" panose="020B0604020202020204" pitchFamily="34" charset="0"/>
              <a:buChar char="•"/>
            </a:pPr>
            <a:r>
              <a:rPr lang="en-US" sz="2100" dirty="0"/>
              <a:t>A larger margin means better generalization (less risk of overfitting).</a:t>
            </a:r>
          </a:p>
          <a:p>
            <a:pPr marL="800100" lvl="1" indent="-342900">
              <a:buFont typeface="Arial" panose="020B0604020202020204" pitchFamily="34" charset="0"/>
              <a:buChar char="•"/>
            </a:pPr>
            <a:r>
              <a:rPr lang="en-US" sz="2100" dirty="0"/>
              <a:t>SVM aims to find the maximum margin hyperplane (MMH) for better separation of classes.</a:t>
            </a:r>
          </a:p>
          <a:p>
            <a:pPr marL="342900" indent="-342900">
              <a:buFont typeface="Arial" panose="020B0604020202020204" pitchFamily="34" charset="0"/>
              <a:buChar char="•"/>
            </a:pPr>
            <a:endParaRPr lang="en-US" sz="2100" dirty="0"/>
          </a:p>
        </p:txBody>
      </p:sp>
      <p:pic>
        <p:nvPicPr>
          <p:cNvPr id="2" name="Picture 1">
            <a:extLst>
              <a:ext uri="{FF2B5EF4-FFF2-40B4-BE49-F238E27FC236}">
                <a16:creationId xmlns:a16="http://schemas.microsoft.com/office/drawing/2014/main" id="{24E6A3B7-AB68-4509-8857-55B2F473A319}"/>
              </a:ext>
            </a:extLst>
          </p:cNvPr>
          <p:cNvPicPr>
            <a:picLocks noChangeAspect="1"/>
          </p:cNvPicPr>
          <p:nvPr/>
        </p:nvPicPr>
        <p:blipFill>
          <a:blip r:embed="rId3"/>
          <a:stretch>
            <a:fillRect/>
          </a:stretch>
        </p:blipFill>
        <p:spPr>
          <a:xfrm>
            <a:off x="5807696" y="1935413"/>
            <a:ext cx="5715000" cy="3810000"/>
          </a:xfrm>
          <a:prstGeom prst="rect">
            <a:avLst/>
          </a:prstGeom>
        </p:spPr>
      </p:pic>
    </p:spTree>
    <p:extLst>
      <p:ext uri="{BB962C8B-B14F-4D97-AF65-F5344CB8AC3E}">
        <p14:creationId xmlns:p14="http://schemas.microsoft.com/office/powerpoint/2010/main" val="1671306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Terminologies in Support Vector Machine?</a:t>
            </a:r>
          </a:p>
        </p:txBody>
      </p:sp>
      <p:sp>
        <p:nvSpPr>
          <p:cNvPr id="9" name="Rectangle 8">
            <a:extLst>
              <a:ext uri="{FF2B5EF4-FFF2-40B4-BE49-F238E27FC236}">
                <a16:creationId xmlns:a16="http://schemas.microsoft.com/office/drawing/2014/main" id="{25B6580F-830D-416E-98F4-DAF8B2228149}"/>
              </a:ext>
            </a:extLst>
          </p:cNvPr>
          <p:cNvSpPr/>
          <p:nvPr/>
        </p:nvSpPr>
        <p:spPr>
          <a:xfrm>
            <a:off x="521110" y="1332097"/>
            <a:ext cx="10991653" cy="1646605"/>
          </a:xfrm>
          <a:prstGeom prst="rect">
            <a:avLst/>
          </a:prstGeom>
        </p:spPr>
        <p:txBody>
          <a:bodyPr wrap="square">
            <a:spAutoFit/>
          </a:bodyPr>
          <a:lstStyle/>
          <a:p>
            <a:pPr marL="342900" indent="-342900">
              <a:buFont typeface="Arial" panose="020B0604020202020204" pitchFamily="34" charset="0"/>
              <a:buChar char="•"/>
            </a:pPr>
            <a:r>
              <a:rPr lang="en-US" sz="2100" dirty="0"/>
              <a:t>Kernel Trick:</a:t>
            </a:r>
          </a:p>
          <a:p>
            <a:pPr marL="800100" lvl="1" indent="-342900">
              <a:buFont typeface="Arial" panose="020B0604020202020204" pitchFamily="34" charset="0"/>
              <a:buChar char="•"/>
            </a:pPr>
            <a:r>
              <a:rPr lang="en-US" sz="2000" dirty="0"/>
              <a:t>Some datasets are not linearly separable in their original form.</a:t>
            </a:r>
          </a:p>
          <a:p>
            <a:pPr marL="800100" lvl="1" indent="-342900">
              <a:buFont typeface="Arial" panose="020B0604020202020204" pitchFamily="34" charset="0"/>
              <a:buChar char="•"/>
            </a:pPr>
            <a:r>
              <a:rPr lang="en-US" sz="2000" dirty="0"/>
              <a:t>The Kernel Trick transforms data into a higher-dimensional space, where it becomes separable.</a:t>
            </a:r>
          </a:p>
          <a:p>
            <a:pPr marL="800100" lvl="1" indent="-342900">
              <a:buFont typeface="Arial" panose="020B0604020202020204" pitchFamily="34" charset="0"/>
              <a:buChar char="•"/>
            </a:pPr>
            <a:r>
              <a:rPr lang="en-US" sz="2000" dirty="0"/>
              <a:t>Common kernel functions: </a:t>
            </a:r>
          </a:p>
          <a:p>
            <a:pPr marL="1257300" lvl="2" indent="-342900">
              <a:buFont typeface="Arial" panose="020B0604020202020204" pitchFamily="34" charset="0"/>
              <a:buChar char="•"/>
            </a:pPr>
            <a:r>
              <a:rPr lang="en-US" sz="2000" dirty="0"/>
              <a:t>Linear Kernel: Used when data is linearly separable.</a:t>
            </a:r>
          </a:p>
        </p:txBody>
      </p:sp>
      <p:pic>
        <p:nvPicPr>
          <p:cNvPr id="1026" name="Picture 2" descr="What is the kernel trick? Why is it important? | by Grace Zhang | Medium">
            <a:extLst>
              <a:ext uri="{FF2B5EF4-FFF2-40B4-BE49-F238E27FC236}">
                <a16:creationId xmlns:a16="http://schemas.microsoft.com/office/drawing/2014/main" id="{B76C9660-702F-43A1-837B-CD592BBBC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2794" y="3429000"/>
            <a:ext cx="7981950"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423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Terminologies in Support Vector Machine?</a:t>
            </a:r>
          </a:p>
        </p:txBody>
      </p:sp>
      <p:sp>
        <p:nvSpPr>
          <p:cNvPr id="9" name="Rectangle 8">
            <a:extLst>
              <a:ext uri="{FF2B5EF4-FFF2-40B4-BE49-F238E27FC236}">
                <a16:creationId xmlns:a16="http://schemas.microsoft.com/office/drawing/2014/main" id="{25B6580F-830D-416E-98F4-DAF8B2228149}"/>
              </a:ext>
            </a:extLst>
          </p:cNvPr>
          <p:cNvSpPr/>
          <p:nvPr/>
        </p:nvSpPr>
        <p:spPr>
          <a:xfrm>
            <a:off x="7730487" y="1836256"/>
            <a:ext cx="3843500" cy="3185487"/>
          </a:xfrm>
          <a:prstGeom prst="rect">
            <a:avLst/>
          </a:prstGeom>
        </p:spPr>
        <p:txBody>
          <a:bodyPr wrap="square">
            <a:spAutoFit/>
          </a:bodyPr>
          <a:lstStyle/>
          <a:p>
            <a:pPr marL="342900" indent="-342900">
              <a:buFont typeface="Arial" panose="020B0604020202020204" pitchFamily="34" charset="0"/>
              <a:buChar char="•"/>
            </a:pPr>
            <a:r>
              <a:rPr lang="en-US" sz="2100" dirty="0"/>
              <a:t>Kernel Trick:</a:t>
            </a:r>
          </a:p>
          <a:p>
            <a:pPr marL="800100" lvl="1" indent="-342900">
              <a:buFont typeface="Arial" panose="020B0604020202020204" pitchFamily="34" charset="0"/>
              <a:buChar char="•"/>
            </a:pPr>
            <a:r>
              <a:rPr lang="en-US" sz="2000" dirty="0"/>
              <a:t>Common kernel functions: </a:t>
            </a:r>
          </a:p>
          <a:p>
            <a:pPr marL="1257300" lvl="2" indent="-342900">
              <a:buFont typeface="Arial" panose="020B0604020202020204" pitchFamily="34" charset="0"/>
              <a:buChar char="•"/>
            </a:pPr>
            <a:r>
              <a:rPr lang="en-US" sz="2000" dirty="0"/>
              <a:t>Polynomial Kernel: Useful for curved boundaries.</a:t>
            </a:r>
          </a:p>
          <a:p>
            <a:pPr marL="1257300" lvl="2" indent="-342900">
              <a:buFont typeface="Arial" panose="020B0604020202020204" pitchFamily="34" charset="0"/>
              <a:buChar char="•"/>
            </a:pPr>
            <a:r>
              <a:rPr lang="en-US" sz="2000" dirty="0"/>
              <a:t>Radial Basis Function (RBF) Kernel: Widely used for complex, non-linear decision boundaries.</a:t>
            </a:r>
          </a:p>
        </p:txBody>
      </p:sp>
      <p:pic>
        <p:nvPicPr>
          <p:cNvPr id="3" name="Picture 2">
            <a:extLst>
              <a:ext uri="{FF2B5EF4-FFF2-40B4-BE49-F238E27FC236}">
                <a16:creationId xmlns:a16="http://schemas.microsoft.com/office/drawing/2014/main" id="{F8806BC8-73B9-48B2-80B7-7CAFE86A818A}"/>
              </a:ext>
            </a:extLst>
          </p:cNvPr>
          <p:cNvPicPr>
            <a:picLocks noChangeAspect="1"/>
          </p:cNvPicPr>
          <p:nvPr/>
        </p:nvPicPr>
        <p:blipFill>
          <a:blip r:embed="rId3"/>
          <a:stretch>
            <a:fillRect/>
          </a:stretch>
        </p:blipFill>
        <p:spPr>
          <a:xfrm>
            <a:off x="2158738" y="3743325"/>
            <a:ext cx="5915025" cy="3114675"/>
          </a:xfrm>
          <a:prstGeom prst="rect">
            <a:avLst/>
          </a:prstGeom>
        </p:spPr>
      </p:pic>
      <p:pic>
        <p:nvPicPr>
          <p:cNvPr id="4" name="Picture 3">
            <a:extLst>
              <a:ext uri="{FF2B5EF4-FFF2-40B4-BE49-F238E27FC236}">
                <a16:creationId xmlns:a16="http://schemas.microsoft.com/office/drawing/2014/main" id="{D5D2AA8C-9041-461B-BD62-06C5821A936A}"/>
              </a:ext>
            </a:extLst>
          </p:cNvPr>
          <p:cNvPicPr>
            <a:picLocks noChangeAspect="1"/>
          </p:cNvPicPr>
          <p:nvPr/>
        </p:nvPicPr>
        <p:blipFill>
          <a:blip r:embed="rId4"/>
          <a:stretch>
            <a:fillRect/>
          </a:stretch>
        </p:blipFill>
        <p:spPr>
          <a:xfrm>
            <a:off x="410017" y="1260271"/>
            <a:ext cx="6563691" cy="2261636"/>
          </a:xfrm>
          <a:prstGeom prst="rect">
            <a:avLst/>
          </a:prstGeom>
        </p:spPr>
      </p:pic>
      <p:sp>
        <p:nvSpPr>
          <p:cNvPr id="5" name="TextBox 4">
            <a:extLst>
              <a:ext uri="{FF2B5EF4-FFF2-40B4-BE49-F238E27FC236}">
                <a16:creationId xmlns:a16="http://schemas.microsoft.com/office/drawing/2014/main" id="{19F8AAB3-725C-4069-9AB3-1B7D89A6D873}"/>
              </a:ext>
            </a:extLst>
          </p:cNvPr>
          <p:cNvSpPr txBox="1"/>
          <p:nvPr/>
        </p:nvSpPr>
        <p:spPr>
          <a:xfrm>
            <a:off x="410017" y="3676454"/>
            <a:ext cx="1597892" cy="369332"/>
          </a:xfrm>
          <a:prstGeom prst="rect">
            <a:avLst/>
          </a:prstGeom>
          <a:noFill/>
        </p:spPr>
        <p:txBody>
          <a:bodyPr wrap="square" rtlCol="0">
            <a:spAutoFit/>
          </a:bodyPr>
          <a:lstStyle/>
          <a:p>
            <a:r>
              <a:rPr lang="en-US" dirty="0"/>
              <a:t>Polynomial</a:t>
            </a:r>
            <a:endParaRPr lang="az-Latn-AZ" dirty="0"/>
          </a:p>
        </p:txBody>
      </p:sp>
      <p:sp>
        <p:nvSpPr>
          <p:cNvPr id="10" name="TextBox 9">
            <a:extLst>
              <a:ext uri="{FF2B5EF4-FFF2-40B4-BE49-F238E27FC236}">
                <a16:creationId xmlns:a16="http://schemas.microsoft.com/office/drawing/2014/main" id="{A24100F8-5F37-422C-A4F8-82ECA958E561}"/>
              </a:ext>
            </a:extLst>
          </p:cNvPr>
          <p:cNvSpPr txBox="1"/>
          <p:nvPr/>
        </p:nvSpPr>
        <p:spPr>
          <a:xfrm>
            <a:off x="2158738" y="6179041"/>
            <a:ext cx="648117" cy="369332"/>
          </a:xfrm>
          <a:prstGeom prst="rect">
            <a:avLst/>
          </a:prstGeom>
          <a:noFill/>
        </p:spPr>
        <p:txBody>
          <a:bodyPr wrap="square" rtlCol="0">
            <a:spAutoFit/>
          </a:bodyPr>
          <a:lstStyle/>
          <a:p>
            <a:r>
              <a:rPr lang="en-US" dirty="0"/>
              <a:t>RBF</a:t>
            </a:r>
            <a:endParaRPr lang="az-Latn-AZ" dirty="0"/>
          </a:p>
        </p:txBody>
      </p:sp>
    </p:spTree>
    <p:extLst>
      <p:ext uri="{BB962C8B-B14F-4D97-AF65-F5344CB8AC3E}">
        <p14:creationId xmlns:p14="http://schemas.microsoft.com/office/powerpoint/2010/main" val="1717320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80B7-46D9-A654-AF6D-51FE3DAA7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A385A-B430-EB6E-2E1D-8F7830065917}"/>
              </a:ext>
            </a:extLst>
          </p:cNvPr>
          <p:cNvSpPr txBox="1">
            <a:spLocks/>
          </p:cNvSpPr>
          <p:nvPr/>
        </p:nvSpPr>
        <p:spPr>
          <a:xfrm>
            <a:off x="599767" y="2931499"/>
            <a:ext cx="10343536"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000" dirty="0">
              <a:solidFill>
                <a:srgbClr val="C00000"/>
              </a:solidFill>
              <a:latin typeface="erdana"/>
            </a:endParaRPr>
          </a:p>
          <a:p>
            <a:pPr algn="ctr"/>
            <a:endParaRPr lang="en-US" sz="6000" dirty="0">
              <a:solidFill>
                <a:srgbClr val="C00000"/>
              </a:solidFill>
              <a:latin typeface="erdana"/>
            </a:endParaRPr>
          </a:p>
          <a:p>
            <a:r>
              <a:rPr lang="en-US" sz="6000" dirty="0">
                <a:solidFill>
                  <a:srgbClr val="C00000"/>
                </a:solidFill>
                <a:latin typeface="erdana"/>
              </a:rPr>
              <a:t>Performance Metrics</a:t>
            </a:r>
          </a:p>
        </p:txBody>
      </p:sp>
    </p:spTree>
    <p:extLst>
      <p:ext uri="{BB962C8B-B14F-4D97-AF65-F5344CB8AC3E}">
        <p14:creationId xmlns:p14="http://schemas.microsoft.com/office/powerpoint/2010/main" val="2764146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Confusion Matrix</a:t>
            </a:r>
          </a:p>
        </p:txBody>
      </p:sp>
      <p:pic>
        <p:nvPicPr>
          <p:cNvPr id="3" name="Picture 2">
            <a:extLst>
              <a:ext uri="{FF2B5EF4-FFF2-40B4-BE49-F238E27FC236}">
                <a16:creationId xmlns:a16="http://schemas.microsoft.com/office/drawing/2014/main" id="{9D96754B-B10D-496B-B5C1-53D695371853}"/>
              </a:ext>
            </a:extLst>
          </p:cNvPr>
          <p:cNvPicPr>
            <a:picLocks noChangeAspect="1"/>
          </p:cNvPicPr>
          <p:nvPr/>
        </p:nvPicPr>
        <p:blipFill>
          <a:blip r:embed="rId3"/>
          <a:stretch>
            <a:fillRect/>
          </a:stretch>
        </p:blipFill>
        <p:spPr>
          <a:xfrm>
            <a:off x="4032218" y="1332097"/>
            <a:ext cx="7181850" cy="4048125"/>
          </a:xfrm>
          <a:prstGeom prst="rect">
            <a:avLst/>
          </a:prstGeom>
        </p:spPr>
      </p:pic>
      <p:pic>
        <p:nvPicPr>
          <p:cNvPr id="4" name="Picture 3">
            <a:extLst>
              <a:ext uri="{FF2B5EF4-FFF2-40B4-BE49-F238E27FC236}">
                <a16:creationId xmlns:a16="http://schemas.microsoft.com/office/drawing/2014/main" id="{0480A888-8AFA-42DC-8442-BFA34E993BE2}"/>
              </a:ext>
            </a:extLst>
          </p:cNvPr>
          <p:cNvPicPr>
            <a:picLocks noChangeAspect="1"/>
          </p:cNvPicPr>
          <p:nvPr/>
        </p:nvPicPr>
        <p:blipFill>
          <a:blip r:embed="rId4"/>
          <a:stretch>
            <a:fillRect/>
          </a:stretch>
        </p:blipFill>
        <p:spPr>
          <a:xfrm>
            <a:off x="646813" y="3995427"/>
            <a:ext cx="3495675" cy="2533650"/>
          </a:xfrm>
          <a:prstGeom prst="rect">
            <a:avLst/>
          </a:prstGeom>
        </p:spPr>
      </p:pic>
    </p:spTree>
    <p:extLst>
      <p:ext uri="{BB962C8B-B14F-4D97-AF65-F5344CB8AC3E}">
        <p14:creationId xmlns:p14="http://schemas.microsoft.com/office/powerpoint/2010/main" val="1561044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Confusion Matrix</a:t>
            </a:r>
          </a:p>
        </p:txBody>
      </p:sp>
      <p:sp>
        <p:nvSpPr>
          <p:cNvPr id="9" name="Rectangle 8">
            <a:extLst>
              <a:ext uri="{FF2B5EF4-FFF2-40B4-BE49-F238E27FC236}">
                <a16:creationId xmlns:a16="http://schemas.microsoft.com/office/drawing/2014/main" id="{25B6580F-830D-416E-98F4-DAF8B2228149}"/>
              </a:ext>
            </a:extLst>
          </p:cNvPr>
          <p:cNvSpPr/>
          <p:nvPr/>
        </p:nvSpPr>
        <p:spPr>
          <a:xfrm>
            <a:off x="1278801" y="1859339"/>
            <a:ext cx="9634398" cy="3816429"/>
          </a:xfrm>
          <a:prstGeom prst="rect">
            <a:avLst/>
          </a:prstGeom>
        </p:spPr>
        <p:txBody>
          <a:bodyPr wrap="square">
            <a:spAutoFit/>
          </a:bodyPr>
          <a:lstStyle/>
          <a:p>
            <a:pPr marL="342900" indent="-342900">
              <a:buFont typeface="Arial" panose="020B0604020202020204" pitchFamily="34" charset="0"/>
              <a:buChar char="•"/>
            </a:pPr>
            <a:r>
              <a:rPr lang="en-US" sz="2200" dirty="0"/>
              <a:t>A Confusion Matrix is a table used to evaluate the performance of a classification model. It compares the actual labels with the predicted labels and helps identify errors in classification.</a:t>
            </a:r>
          </a:p>
          <a:p>
            <a:pPr marL="342900" indent="-342900">
              <a:buFont typeface="Arial" panose="020B0604020202020204" pitchFamily="34" charset="0"/>
              <a:buChar char="•"/>
            </a:pPr>
            <a:r>
              <a:rPr lang="en-US" sz="2200" dirty="0"/>
              <a:t>True Positive (TP): Correctly predicted positive cases (e.g., detecting spam when it actually is spam).</a:t>
            </a:r>
          </a:p>
          <a:p>
            <a:pPr marL="342900" indent="-342900">
              <a:buFont typeface="Arial" panose="020B0604020202020204" pitchFamily="34" charset="0"/>
              <a:buChar char="•"/>
            </a:pPr>
            <a:r>
              <a:rPr lang="en-US" sz="2200" dirty="0"/>
              <a:t>True Negative (TN): Correctly predicted negative cases (e.g., detecting non-spam when it actually is not spam).</a:t>
            </a:r>
          </a:p>
          <a:p>
            <a:pPr marL="342900" indent="-342900">
              <a:buFont typeface="Arial" panose="020B0604020202020204" pitchFamily="34" charset="0"/>
              <a:buChar char="•"/>
            </a:pPr>
            <a:r>
              <a:rPr lang="en-US" sz="2200" dirty="0"/>
              <a:t>False Positive (FP) (Type I Error): Wrongly classified a negative as positive (e.g., marking a normal email as spam).</a:t>
            </a:r>
          </a:p>
          <a:p>
            <a:pPr marL="342900" indent="-342900">
              <a:buFont typeface="Arial" panose="020B0604020202020204" pitchFamily="34" charset="0"/>
              <a:buChar char="•"/>
            </a:pPr>
            <a:r>
              <a:rPr lang="en-US" sz="2200" dirty="0"/>
              <a:t>False Negative (FN) (Type II Error): Wrongly classified a positive as negative (e.g., missing a spam email).</a:t>
            </a:r>
          </a:p>
        </p:txBody>
      </p:sp>
    </p:spTree>
    <p:extLst>
      <p:ext uri="{BB962C8B-B14F-4D97-AF65-F5344CB8AC3E}">
        <p14:creationId xmlns:p14="http://schemas.microsoft.com/office/powerpoint/2010/main" val="2176492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Accuracy</a:t>
            </a:r>
          </a:p>
        </p:txBody>
      </p:sp>
      <p:sp>
        <p:nvSpPr>
          <p:cNvPr id="3" name="Rectangle 2">
            <a:extLst>
              <a:ext uri="{FF2B5EF4-FFF2-40B4-BE49-F238E27FC236}">
                <a16:creationId xmlns:a16="http://schemas.microsoft.com/office/drawing/2014/main" id="{3F3F046A-7E0C-46BB-BEAA-A2B1226A1CD0}"/>
              </a:ext>
            </a:extLst>
          </p:cNvPr>
          <p:cNvSpPr/>
          <p:nvPr/>
        </p:nvSpPr>
        <p:spPr>
          <a:xfrm>
            <a:off x="1030664" y="1416529"/>
            <a:ext cx="9989270" cy="1631216"/>
          </a:xfrm>
          <a:prstGeom prst="rect">
            <a:avLst/>
          </a:prstGeom>
        </p:spPr>
        <p:txBody>
          <a:bodyPr wrap="square">
            <a:spAutoFit/>
          </a:bodyPr>
          <a:lstStyle/>
          <a:p>
            <a:r>
              <a:rPr lang="en-US" sz="2000" dirty="0"/>
              <a:t>Accuracy measures how often the model’s predictions are correct overall. It gives a general idea of how well the model is performing. However, accuracy can be misleading, especially with imbalanced datasets where one class dominates. For example, a model that predicts the majority class correctly most of the time might have high accuracy but still fail to capture important details about other classes.</a:t>
            </a:r>
            <a:endParaRPr lang="az-Latn-AZ" sz="2000" dirty="0"/>
          </a:p>
        </p:txBody>
      </p:sp>
      <p:sp>
        <p:nvSpPr>
          <p:cNvPr id="7" name="Rectangle 6">
            <a:extLst>
              <a:ext uri="{FF2B5EF4-FFF2-40B4-BE49-F238E27FC236}">
                <a16:creationId xmlns:a16="http://schemas.microsoft.com/office/drawing/2014/main" id="{F4F15C03-05FB-44B0-A02C-C3119B543F6B}"/>
              </a:ext>
            </a:extLst>
          </p:cNvPr>
          <p:cNvSpPr/>
          <p:nvPr/>
        </p:nvSpPr>
        <p:spPr>
          <a:xfrm>
            <a:off x="1565785" y="5156013"/>
            <a:ext cx="9296401" cy="707886"/>
          </a:xfrm>
          <a:prstGeom prst="rect">
            <a:avLst/>
          </a:prstGeom>
        </p:spPr>
        <p:txBody>
          <a:bodyPr wrap="square">
            <a:spAutoFit/>
          </a:bodyPr>
          <a:lstStyle/>
          <a:p>
            <a:pPr marL="285750" indent="-285750">
              <a:buFont typeface="Arial" panose="020B0604020202020204" pitchFamily="34" charset="0"/>
              <a:buChar char="•"/>
            </a:pPr>
            <a:r>
              <a:rPr lang="en-US" sz="2000" dirty="0"/>
              <a:t>Works well when the dataset has balanced classes (e.g., 50% positive, 50% negative).</a:t>
            </a:r>
          </a:p>
          <a:p>
            <a:pPr marL="285750" indent="-285750">
              <a:buFont typeface="Arial" panose="020B0604020202020204" pitchFamily="34" charset="0"/>
              <a:buChar char="•"/>
            </a:pPr>
            <a:r>
              <a:rPr lang="en-US" sz="2000" dirty="0"/>
              <a:t>Not reliable for imbalanced datasets, where one class dominates the other.</a:t>
            </a:r>
            <a:endParaRPr lang="az-Latn-AZ" sz="2000" dirty="0"/>
          </a:p>
        </p:txBody>
      </p:sp>
      <p:pic>
        <p:nvPicPr>
          <p:cNvPr id="5" name="Picture 4">
            <a:extLst>
              <a:ext uri="{FF2B5EF4-FFF2-40B4-BE49-F238E27FC236}">
                <a16:creationId xmlns:a16="http://schemas.microsoft.com/office/drawing/2014/main" id="{00D6958D-E8B1-4493-A7F1-0E42039A25BF}"/>
              </a:ext>
            </a:extLst>
          </p:cNvPr>
          <p:cNvPicPr>
            <a:picLocks noChangeAspect="1"/>
          </p:cNvPicPr>
          <p:nvPr/>
        </p:nvPicPr>
        <p:blipFill>
          <a:blip r:embed="rId3"/>
          <a:stretch>
            <a:fillRect/>
          </a:stretch>
        </p:blipFill>
        <p:spPr>
          <a:xfrm>
            <a:off x="4176076" y="3047745"/>
            <a:ext cx="3591612" cy="2021334"/>
          </a:xfrm>
          <a:prstGeom prst="rect">
            <a:avLst/>
          </a:prstGeom>
        </p:spPr>
      </p:pic>
    </p:spTree>
    <p:extLst>
      <p:ext uri="{BB962C8B-B14F-4D97-AF65-F5344CB8AC3E}">
        <p14:creationId xmlns:p14="http://schemas.microsoft.com/office/powerpoint/2010/main" val="999749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Precision</a:t>
            </a:r>
          </a:p>
        </p:txBody>
      </p:sp>
      <p:sp>
        <p:nvSpPr>
          <p:cNvPr id="3" name="Rectangle 2">
            <a:extLst>
              <a:ext uri="{FF2B5EF4-FFF2-40B4-BE49-F238E27FC236}">
                <a16:creationId xmlns:a16="http://schemas.microsoft.com/office/drawing/2014/main" id="{3F3F046A-7E0C-46BB-BEAA-A2B1226A1CD0}"/>
              </a:ext>
            </a:extLst>
          </p:cNvPr>
          <p:cNvSpPr/>
          <p:nvPr/>
        </p:nvSpPr>
        <p:spPr>
          <a:xfrm>
            <a:off x="1030664" y="1416529"/>
            <a:ext cx="9989270" cy="1015663"/>
          </a:xfrm>
          <a:prstGeom prst="rect">
            <a:avLst/>
          </a:prstGeom>
        </p:spPr>
        <p:txBody>
          <a:bodyPr wrap="square">
            <a:spAutoFit/>
          </a:bodyPr>
          <a:lstStyle/>
          <a:p>
            <a:r>
              <a:rPr lang="en-US" sz="2000" dirty="0"/>
              <a:t>Precision focuses on the quality of the model’s positive predictions. It tells us how many of the instances predicted as positive are actually positive. Precision is important in situations where false positives need to be minimized, such as detecting spam emails or fraud.</a:t>
            </a:r>
            <a:endParaRPr lang="az-Latn-AZ" sz="2000" dirty="0"/>
          </a:p>
        </p:txBody>
      </p:sp>
      <p:sp>
        <p:nvSpPr>
          <p:cNvPr id="2" name="Rectangle 1">
            <a:extLst>
              <a:ext uri="{FF2B5EF4-FFF2-40B4-BE49-F238E27FC236}">
                <a16:creationId xmlns:a16="http://schemas.microsoft.com/office/drawing/2014/main" id="{27506895-B789-4CC4-8F2A-845CBD7CE895}"/>
              </a:ext>
            </a:extLst>
          </p:cNvPr>
          <p:cNvSpPr/>
          <p:nvPr/>
        </p:nvSpPr>
        <p:spPr>
          <a:xfrm>
            <a:off x="1565785" y="5156013"/>
            <a:ext cx="9296401" cy="1015663"/>
          </a:xfrm>
          <a:prstGeom prst="rect">
            <a:avLst/>
          </a:prstGeom>
        </p:spPr>
        <p:txBody>
          <a:bodyPr wrap="square">
            <a:spAutoFit/>
          </a:bodyPr>
          <a:lstStyle/>
          <a:p>
            <a:pPr marL="285750" indent="-285750">
              <a:buFont typeface="Arial" panose="020B0604020202020204" pitchFamily="34" charset="0"/>
              <a:buChar char="•"/>
            </a:pPr>
            <a:r>
              <a:rPr lang="en-US" sz="2000" dirty="0"/>
              <a:t>Important in scenarios where false positives are costly (e.g., spam filters, fraud detection, medical diagnoses).</a:t>
            </a:r>
          </a:p>
          <a:p>
            <a:pPr marL="285750" indent="-285750">
              <a:buFont typeface="Arial" panose="020B0604020202020204" pitchFamily="34" charset="0"/>
              <a:buChar char="•"/>
            </a:pPr>
            <a:r>
              <a:rPr lang="en-US" sz="2000" dirty="0"/>
              <a:t>High precision means that most of the positive predictions are truly positive.</a:t>
            </a:r>
            <a:endParaRPr lang="az-Latn-AZ" sz="2000" dirty="0"/>
          </a:p>
        </p:txBody>
      </p:sp>
      <p:pic>
        <p:nvPicPr>
          <p:cNvPr id="3074" name="Picture 2" descr="Accuracy vs. precision vs. recall in machine learning: what's the  difference?">
            <a:extLst>
              <a:ext uri="{FF2B5EF4-FFF2-40B4-BE49-F238E27FC236}">
                <a16:creationId xmlns:a16="http://schemas.microsoft.com/office/drawing/2014/main" id="{1CA67095-CE72-407F-A21E-B388EB6CCF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7011" y="2830211"/>
            <a:ext cx="3575863" cy="2012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856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Recall</a:t>
            </a:r>
          </a:p>
        </p:txBody>
      </p:sp>
      <p:sp>
        <p:nvSpPr>
          <p:cNvPr id="3" name="Rectangle 2">
            <a:extLst>
              <a:ext uri="{FF2B5EF4-FFF2-40B4-BE49-F238E27FC236}">
                <a16:creationId xmlns:a16="http://schemas.microsoft.com/office/drawing/2014/main" id="{3F3F046A-7E0C-46BB-BEAA-A2B1226A1CD0}"/>
              </a:ext>
            </a:extLst>
          </p:cNvPr>
          <p:cNvSpPr/>
          <p:nvPr/>
        </p:nvSpPr>
        <p:spPr>
          <a:xfrm>
            <a:off x="1030664" y="1416529"/>
            <a:ext cx="9989270" cy="1015663"/>
          </a:xfrm>
          <a:prstGeom prst="rect">
            <a:avLst/>
          </a:prstGeom>
        </p:spPr>
        <p:txBody>
          <a:bodyPr wrap="square">
            <a:spAutoFit/>
          </a:bodyPr>
          <a:lstStyle/>
          <a:p>
            <a:r>
              <a:rPr lang="en-US" sz="2000" dirty="0"/>
              <a:t>Recall measures how well the model identifies all actual positive cases. It shows the proportion of true positives detected out of all the actual positive instances. High recall is essential when missing positive cases has significant consequences, such as in medical diagnoses.</a:t>
            </a:r>
            <a:endParaRPr lang="az-Latn-AZ" sz="2000" dirty="0"/>
          </a:p>
        </p:txBody>
      </p:sp>
      <p:sp>
        <p:nvSpPr>
          <p:cNvPr id="2" name="Rectangle 1">
            <a:extLst>
              <a:ext uri="{FF2B5EF4-FFF2-40B4-BE49-F238E27FC236}">
                <a16:creationId xmlns:a16="http://schemas.microsoft.com/office/drawing/2014/main" id="{27506895-B789-4CC4-8F2A-845CBD7CE895}"/>
              </a:ext>
            </a:extLst>
          </p:cNvPr>
          <p:cNvSpPr/>
          <p:nvPr/>
        </p:nvSpPr>
        <p:spPr>
          <a:xfrm>
            <a:off x="1565785" y="5156013"/>
            <a:ext cx="9296401" cy="1015663"/>
          </a:xfrm>
          <a:prstGeom prst="rect">
            <a:avLst/>
          </a:prstGeom>
        </p:spPr>
        <p:txBody>
          <a:bodyPr wrap="square">
            <a:spAutoFit/>
          </a:bodyPr>
          <a:lstStyle/>
          <a:p>
            <a:pPr marL="285750" indent="-285750">
              <a:buFont typeface="Arial" panose="020B0604020202020204" pitchFamily="34" charset="0"/>
              <a:buChar char="•"/>
            </a:pPr>
            <a:r>
              <a:rPr lang="en-US" sz="2000" dirty="0"/>
              <a:t>Crucial when missing positive cases is critical (e.g., detecting diseases, fraud detection, safety alarms).</a:t>
            </a:r>
          </a:p>
          <a:p>
            <a:pPr marL="285750" indent="-285750">
              <a:buFont typeface="Arial" panose="020B0604020202020204" pitchFamily="34" charset="0"/>
              <a:buChar char="•"/>
            </a:pPr>
            <a:r>
              <a:rPr lang="en-US" sz="2000" dirty="0"/>
              <a:t>High recall ensures that most actual positives are captured.</a:t>
            </a:r>
            <a:endParaRPr lang="az-Latn-AZ" sz="2000" dirty="0"/>
          </a:p>
        </p:txBody>
      </p:sp>
      <p:pic>
        <p:nvPicPr>
          <p:cNvPr id="4" name="Picture 3">
            <a:extLst>
              <a:ext uri="{FF2B5EF4-FFF2-40B4-BE49-F238E27FC236}">
                <a16:creationId xmlns:a16="http://schemas.microsoft.com/office/drawing/2014/main" id="{388EF5A4-65E5-497C-B17D-37871026A02D}"/>
              </a:ext>
            </a:extLst>
          </p:cNvPr>
          <p:cNvPicPr>
            <a:picLocks noChangeAspect="1"/>
          </p:cNvPicPr>
          <p:nvPr/>
        </p:nvPicPr>
        <p:blipFill>
          <a:blip r:embed="rId3"/>
          <a:stretch>
            <a:fillRect/>
          </a:stretch>
        </p:blipFill>
        <p:spPr>
          <a:xfrm>
            <a:off x="3717336" y="2672916"/>
            <a:ext cx="3984363" cy="2242372"/>
          </a:xfrm>
          <a:prstGeom prst="rect">
            <a:avLst/>
          </a:prstGeom>
        </p:spPr>
      </p:pic>
    </p:spTree>
    <p:extLst>
      <p:ext uri="{BB962C8B-B14F-4D97-AF65-F5344CB8AC3E}">
        <p14:creationId xmlns:p14="http://schemas.microsoft.com/office/powerpoint/2010/main" val="3699309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F1 Score</a:t>
            </a:r>
          </a:p>
        </p:txBody>
      </p:sp>
      <p:sp>
        <p:nvSpPr>
          <p:cNvPr id="3" name="Rectangle 2">
            <a:extLst>
              <a:ext uri="{FF2B5EF4-FFF2-40B4-BE49-F238E27FC236}">
                <a16:creationId xmlns:a16="http://schemas.microsoft.com/office/drawing/2014/main" id="{3F3F046A-7E0C-46BB-BEAA-A2B1226A1CD0}"/>
              </a:ext>
            </a:extLst>
          </p:cNvPr>
          <p:cNvSpPr/>
          <p:nvPr/>
        </p:nvSpPr>
        <p:spPr>
          <a:xfrm>
            <a:off x="1030664" y="1416529"/>
            <a:ext cx="9989270" cy="1631216"/>
          </a:xfrm>
          <a:prstGeom prst="rect">
            <a:avLst/>
          </a:prstGeom>
        </p:spPr>
        <p:txBody>
          <a:bodyPr wrap="square">
            <a:spAutoFit/>
          </a:bodyPr>
          <a:lstStyle/>
          <a:p>
            <a:r>
              <a:rPr lang="en-US" sz="2000" dirty="0"/>
              <a:t>F1-score combines precision and recall into a single metric to balance their trade-off. It provides a better sense of a model’s overall performance, particularly for imbalanced datasets. The F1 score is helpful when both false positives and false negatives are important, though it assumes precision and recall are equally significant, which might not always align with the use case.</a:t>
            </a:r>
            <a:endParaRPr lang="az-Latn-AZ" sz="2000" dirty="0"/>
          </a:p>
        </p:txBody>
      </p:sp>
      <p:sp>
        <p:nvSpPr>
          <p:cNvPr id="2" name="Rectangle 1">
            <a:extLst>
              <a:ext uri="{FF2B5EF4-FFF2-40B4-BE49-F238E27FC236}">
                <a16:creationId xmlns:a16="http://schemas.microsoft.com/office/drawing/2014/main" id="{27506895-B789-4CC4-8F2A-845CBD7CE895}"/>
              </a:ext>
            </a:extLst>
          </p:cNvPr>
          <p:cNvSpPr/>
          <p:nvPr/>
        </p:nvSpPr>
        <p:spPr>
          <a:xfrm>
            <a:off x="1565785" y="5156013"/>
            <a:ext cx="9296401" cy="707886"/>
          </a:xfrm>
          <a:prstGeom prst="rect">
            <a:avLst/>
          </a:prstGeom>
        </p:spPr>
        <p:txBody>
          <a:bodyPr wrap="square">
            <a:spAutoFit/>
          </a:bodyPr>
          <a:lstStyle/>
          <a:p>
            <a:pPr marL="285750" indent="-285750">
              <a:buFont typeface="Arial" panose="020B0604020202020204" pitchFamily="34" charset="0"/>
              <a:buChar char="•"/>
            </a:pPr>
            <a:r>
              <a:rPr lang="en-US" sz="2000" dirty="0"/>
              <a:t>Suitable when dealing with imbalanced datasets, where accuracy is misleading.</a:t>
            </a:r>
          </a:p>
          <a:p>
            <a:pPr marL="285750" indent="-285750">
              <a:buFont typeface="Arial" panose="020B0604020202020204" pitchFamily="34" charset="0"/>
              <a:buChar char="•"/>
            </a:pPr>
            <a:r>
              <a:rPr lang="en-US" sz="2000" dirty="0"/>
              <a:t>Helps in cases where we need a balance between precision and recall.</a:t>
            </a:r>
            <a:endParaRPr lang="az-Latn-AZ" sz="2000" dirty="0"/>
          </a:p>
        </p:txBody>
      </p:sp>
      <p:pic>
        <p:nvPicPr>
          <p:cNvPr id="5" name="Picture 4">
            <a:extLst>
              <a:ext uri="{FF2B5EF4-FFF2-40B4-BE49-F238E27FC236}">
                <a16:creationId xmlns:a16="http://schemas.microsoft.com/office/drawing/2014/main" id="{13E31886-AF3C-4028-B5D0-7A54E894F978}"/>
              </a:ext>
            </a:extLst>
          </p:cNvPr>
          <p:cNvPicPr>
            <a:picLocks noChangeAspect="1"/>
          </p:cNvPicPr>
          <p:nvPr/>
        </p:nvPicPr>
        <p:blipFill>
          <a:blip r:embed="rId3"/>
          <a:stretch>
            <a:fillRect/>
          </a:stretch>
        </p:blipFill>
        <p:spPr>
          <a:xfrm>
            <a:off x="3291770" y="3239148"/>
            <a:ext cx="5148265" cy="1521387"/>
          </a:xfrm>
          <a:prstGeom prst="rect">
            <a:avLst/>
          </a:prstGeom>
        </p:spPr>
      </p:pic>
    </p:spTree>
    <p:extLst>
      <p:ext uri="{BB962C8B-B14F-4D97-AF65-F5344CB8AC3E}">
        <p14:creationId xmlns:p14="http://schemas.microsoft.com/office/powerpoint/2010/main" val="942043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25A8-4087-6BF1-5095-44C818506A53}"/>
            </a:ext>
          </a:extLst>
        </p:cNvPr>
        <p:cNvGrpSpPr/>
        <p:nvPr/>
      </p:nvGrpSpPr>
      <p:grpSpPr>
        <a:xfrm>
          <a:off x="0" y="0"/>
          <a:ext cx="0" cy="0"/>
          <a:chOff x="0" y="0"/>
          <a:chExt cx="0" cy="0"/>
        </a:xfrm>
      </p:grpSpPr>
      <p:sp>
        <p:nvSpPr>
          <p:cNvPr id="31" name="Title 1">
            <a:extLst>
              <a:ext uri="{FF2B5EF4-FFF2-40B4-BE49-F238E27FC236}">
                <a16:creationId xmlns:a16="http://schemas.microsoft.com/office/drawing/2014/main" id="{102A5C60-DE37-CF66-0373-834DADA4B025}"/>
              </a:ext>
            </a:extLst>
          </p:cNvPr>
          <p:cNvSpPr txBox="1">
            <a:spLocks/>
          </p:cNvSpPr>
          <p:nvPr/>
        </p:nvSpPr>
        <p:spPr>
          <a:xfrm>
            <a:off x="757083" y="494293"/>
            <a:ext cx="10913807" cy="83780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solidFill>
                  <a:srgbClr val="C00000"/>
                </a:solidFill>
              </a:rPr>
              <a:t>AUC and ROC Curves</a:t>
            </a:r>
          </a:p>
        </p:txBody>
      </p:sp>
      <p:sp>
        <p:nvSpPr>
          <p:cNvPr id="3" name="Rectangle 2">
            <a:extLst>
              <a:ext uri="{FF2B5EF4-FFF2-40B4-BE49-F238E27FC236}">
                <a16:creationId xmlns:a16="http://schemas.microsoft.com/office/drawing/2014/main" id="{3F3F046A-7E0C-46BB-BEAA-A2B1226A1CD0}"/>
              </a:ext>
            </a:extLst>
          </p:cNvPr>
          <p:cNvSpPr/>
          <p:nvPr/>
        </p:nvSpPr>
        <p:spPr>
          <a:xfrm>
            <a:off x="757082" y="1416529"/>
            <a:ext cx="4653903" cy="4093428"/>
          </a:xfrm>
          <a:prstGeom prst="rect">
            <a:avLst/>
          </a:prstGeom>
        </p:spPr>
        <p:txBody>
          <a:bodyPr wrap="square">
            <a:spAutoFit/>
          </a:bodyPr>
          <a:lstStyle/>
          <a:p>
            <a:pPr marL="342900" indent="-342900">
              <a:buFont typeface="Arial" panose="020B0604020202020204" pitchFamily="34" charset="0"/>
              <a:buChar char="•"/>
            </a:pPr>
            <a:r>
              <a:rPr lang="en-US" sz="2000" dirty="0"/>
              <a:t>ROC Curve (</a:t>
            </a:r>
            <a:r>
              <a:rPr lang="az-Latn-AZ" sz="2000" dirty="0"/>
              <a:t>Receiver Operating Characteristic</a:t>
            </a:r>
            <a:r>
              <a:rPr lang="en-US" sz="2000" dirty="0"/>
              <a:t>): ROC Curve plots TPR vs. FPR at different thresholds. It represents the trade-off between the sensitivity and specificity of a classifier.</a:t>
            </a:r>
          </a:p>
          <a:p>
            <a:pPr marL="342900" indent="-342900">
              <a:buFont typeface="Arial" panose="020B0604020202020204" pitchFamily="34" charset="0"/>
              <a:buChar char="•"/>
            </a:pPr>
            <a:r>
              <a:rPr lang="en-US" sz="2000" dirty="0"/>
              <a:t>AUC (Area Under the Curve): AUC measures the area under the ROC curve. A higher AUC value indicates better model performance as it suggests a greater ability to distinguish between classes. An AUC value of 1.0 indicates perfect performance while 0.5 suggests it is random guessing.</a:t>
            </a:r>
            <a:endParaRPr lang="az-Latn-AZ" sz="2000" dirty="0"/>
          </a:p>
        </p:txBody>
      </p:sp>
      <p:pic>
        <p:nvPicPr>
          <p:cNvPr id="4" name="Picture 3">
            <a:extLst>
              <a:ext uri="{FF2B5EF4-FFF2-40B4-BE49-F238E27FC236}">
                <a16:creationId xmlns:a16="http://schemas.microsoft.com/office/drawing/2014/main" id="{C83B2C37-E8B0-495C-9DDC-42F9EE515629}"/>
              </a:ext>
            </a:extLst>
          </p:cNvPr>
          <p:cNvPicPr>
            <a:picLocks noChangeAspect="1"/>
          </p:cNvPicPr>
          <p:nvPr/>
        </p:nvPicPr>
        <p:blipFill>
          <a:blip r:embed="rId3"/>
          <a:stretch>
            <a:fillRect/>
          </a:stretch>
        </p:blipFill>
        <p:spPr>
          <a:xfrm>
            <a:off x="5698715" y="1185862"/>
            <a:ext cx="5972175" cy="4486275"/>
          </a:xfrm>
          <a:prstGeom prst="rect">
            <a:avLst/>
          </a:prstGeom>
        </p:spPr>
      </p:pic>
    </p:spTree>
    <p:extLst>
      <p:ext uri="{BB962C8B-B14F-4D97-AF65-F5344CB8AC3E}">
        <p14:creationId xmlns:p14="http://schemas.microsoft.com/office/powerpoint/2010/main" val="931625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4AEF83-4C86-AF6C-D9AB-D13705B20A3D}"/>
              </a:ext>
            </a:extLst>
          </p:cNvPr>
          <p:cNvSpPr txBox="1">
            <a:spLocks/>
          </p:cNvSpPr>
          <p:nvPr/>
        </p:nvSpPr>
        <p:spPr>
          <a:xfrm>
            <a:off x="831850" y="1709738"/>
            <a:ext cx="10515600" cy="28527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az-Latn-AZ" sz="6000" dirty="0">
              <a:solidFill>
                <a:srgbClr val="C00000"/>
              </a:solidFill>
            </a:endParaRPr>
          </a:p>
          <a:p>
            <a:endParaRPr lang="az-Latn-AZ" sz="6000" dirty="0">
              <a:solidFill>
                <a:srgbClr val="C00000"/>
              </a:solidFill>
            </a:endParaRPr>
          </a:p>
          <a:p>
            <a:r>
              <a:rPr lang="az-Latn-AZ" sz="6000" dirty="0">
                <a:solidFill>
                  <a:srgbClr val="C00000"/>
                </a:solidFill>
              </a:rPr>
              <a:t>Thank you!</a:t>
            </a:r>
            <a:endParaRPr lang="en-US" sz="6000" dirty="0"/>
          </a:p>
        </p:txBody>
      </p:sp>
    </p:spTree>
    <p:extLst>
      <p:ext uri="{BB962C8B-B14F-4D97-AF65-F5344CB8AC3E}">
        <p14:creationId xmlns:p14="http://schemas.microsoft.com/office/powerpoint/2010/main" val="152006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5EE3AB940F2D74B9ABFAA1F5886DDFE" ma:contentTypeVersion="15" ma:contentTypeDescription="Create a new document." ma:contentTypeScope="" ma:versionID="83236878128d8ecdd4a264b8117a83c0">
  <xsd:schema xmlns:xsd="http://www.w3.org/2001/XMLSchema" xmlns:xs="http://www.w3.org/2001/XMLSchema" xmlns:p="http://schemas.microsoft.com/office/2006/metadata/properties" xmlns:ns3="4ba819e7-13b1-40cd-845b-08405ad7ee5c" xmlns:ns4="c254734d-d946-43fb-a7d2-71bad6ded441" targetNamespace="http://schemas.microsoft.com/office/2006/metadata/properties" ma:root="true" ma:fieldsID="b647bfaac0a6a292c5dfda3fa909c12f" ns3:_="" ns4:_="">
    <xsd:import namespace="4ba819e7-13b1-40cd-845b-08405ad7ee5c"/>
    <xsd:import namespace="c254734d-d946-43fb-a7d2-71bad6ded44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SystemTag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a819e7-13b1-40cd-845b-08405ad7ee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descriptio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ystemTags" ma:index="17" nillable="true" ma:displayName="MediaServiceSystemTags" ma:hidden="true" ma:internalName="MediaServiceSystemTags" ma:readOnly="true">
      <xsd:simpleType>
        <xsd:restriction base="dms:Note"/>
      </xsd:simpleType>
    </xsd:element>
    <xsd:element name="_activity" ma:index="18" nillable="true" ma:displayName="_activity" ma:hidden="true" ma:internalName="_activity">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254734d-d946-43fb-a7d2-71bad6ded44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4ba819e7-13b1-40cd-845b-08405ad7ee5c" xsi:nil="true"/>
  </documentManagement>
</p:properties>
</file>

<file path=customXml/itemProps1.xml><?xml version="1.0" encoding="utf-8"?>
<ds:datastoreItem xmlns:ds="http://schemas.openxmlformats.org/officeDocument/2006/customXml" ds:itemID="{E31B4638-AD87-4BEA-B0D1-7CFEEFD06C7D}">
  <ds:schemaRefs>
    <ds:schemaRef ds:uri="http://schemas.microsoft.com/sharepoint/v3/contenttype/forms"/>
  </ds:schemaRefs>
</ds:datastoreItem>
</file>

<file path=customXml/itemProps2.xml><?xml version="1.0" encoding="utf-8"?>
<ds:datastoreItem xmlns:ds="http://schemas.openxmlformats.org/officeDocument/2006/customXml" ds:itemID="{6A009430-674D-47A7-A37B-8C93FA6086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a819e7-13b1-40cd-845b-08405ad7ee5c"/>
    <ds:schemaRef ds:uri="c254734d-d946-43fb-a7d2-71bad6ded4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444487-0313-4AC4-8A41-ECA0EA03CA4A}">
  <ds:schemaRefs>
    <ds:schemaRef ds:uri="http://www.w3.org/XML/1998/namespace"/>
    <ds:schemaRef ds:uri="4ba819e7-13b1-40cd-845b-08405ad7ee5c"/>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dcmitype/"/>
    <ds:schemaRef ds:uri="c254734d-d946-43fb-a7d2-71bad6ded441"/>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1827</TotalTime>
  <Words>2896</Words>
  <Application>Microsoft Office PowerPoint</Application>
  <PresentationFormat>Widescreen</PresentationFormat>
  <Paragraphs>201</Paragraphs>
  <Slides>18</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-apple-system</vt:lpstr>
      <vt:lpstr>Aptos</vt:lpstr>
      <vt:lpstr>Aptos Display</vt:lpstr>
      <vt:lpstr>Aptos Display (Headings)</vt:lpstr>
      <vt:lpstr>Arial</vt:lpstr>
      <vt:lpstr>Calibri</vt:lpstr>
      <vt:lpstr>erdana</vt:lpstr>
      <vt:lpstr>IBM Plex Sans</vt:lpstr>
      <vt:lpstr>Söhne</vt:lpstr>
      <vt:lpstr>Office Theme</vt:lpstr>
      <vt:lpstr>Supervised Learning: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Preparation and Transformation</dc:title>
  <dc:creator>Sabina R. Mammadova</dc:creator>
  <cp:lastModifiedBy>rashid mammadli</cp:lastModifiedBy>
  <cp:revision>40</cp:revision>
  <dcterms:created xsi:type="dcterms:W3CDTF">2024-12-20T07:41:56Z</dcterms:created>
  <dcterms:modified xsi:type="dcterms:W3CDTF">2026-10-10T07:56:12Z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0x010100C5EE3AB940F2D74B9ABFAA1F5886DDFE</vt:lpwstr>
  </property>
</Properties>
</file>